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5" r:id="rId17"/>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10.xml"/><Relationship Id="rId17"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[0:00-0:15] Hi, this is a quick walkthrough of my Uber "Find My Ride" project. The question: why do riders and drivers struggle to find each other at pickup, and is there a product opportunity? I will cover what I did, the main insights, a rough market sizing, and what is still to do.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[0:15-0:55] I built a Google Form on pickup experience and got 27 responses. One person had never used Uber, and two looked like test entries with keyboard-mash text, so the analysis base is 24 Uber users. I did not delete anything: those rows are flagged and every cleaning step is in a log. Question wording comes straight from the form script. Because multi-select questions overlap, I report each option over the 24 people who answered, and never add options together. This is a small convenience sample, so everything here is descriptive, not market-wide.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[0:55-1:40] Of the 24 riders, 22 have booked from a crowded or complex location, and only 2 said they had no difficulties. The most common problem is not the driver being far away. It is confusion about which entrance or gate to use, 13 of 24. Next is long waiting at 11, then a wrong or inconvenient pickup pin at 10. Overall rating averages 3.79 out of 5, which is moderate rather than low. Percentages overlap because people tick several options.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[1:40-2:25] This heatmap crosses where people had difficulty with what went wrong. Each cell counts respondents who ticked both. Shopping malls and crowded markets have the darkest cells, but they are also the most-ticked locations. For example, 6 of the 9 people who reported mall difficulty also reported long waiting, and 5 of 6 for residential complexes. Treat this as a pattern to test, not a failure rate, because the cells are tiny and these are counts of respondents, not of rides.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[2:25-3:10] The biggest impact is time pressure: 15 of 24 said they worried about being late, ahead of frustration or stress at 6 each. On outcomes, only 3 of 24 met their driver without much delay. 9 met after a delay, and 10 ended in a cancellation, either the rider or the driver. Q10 is single-select so those shares do add up. Cancellations and delay are where revenue and trust leak.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[3:10-3:50] On the app itself, 10 of 24 find the pickup display sometimes confusing or inaccurate, and only 3 call it very helpful and accurate. Coordination falls back on manual contact: 11 say the driver called for directions, 8 say the driver did not communicate clearly, and only 4 say the driver helped identify a suitable meeting point. The pattern suggests a gap in how the app helps riders and drivers agree on an exact meeting point.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[3:50-4:30] To size the opportunity I built a TAM, SAM, SOM model. TAM is about 2,417 million pickup events a year across India ride-hailing. SAM, the part Uber can serve, is about 406 million, and SOM within three years is about 101.5 million. After applying a problem rate and an effectiveness rate, about 3.6 million events could be addressed, worth roughly 5.3 crore rupees a year in the base case. Important: only the distance figure and market shares are sourced. Problem rate, effectiveness, reach, fare and take rate are my assumptions, so this shows sensitivity and is not a market estimate. The range runs from a very small to a very large number.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[4:30-5:00] Putting it together. First, the problem is mostly about the exact meeting point, not just the pin. Second, communication is manual and cancellations follow delay. Third, 14 of 24 named Rapido or Ola as preferred, and 14 of 24 reported extra-money requests. That is a separate issue, so I keep it out of the pickup claim. Limits: small sample, one convenience group, and the market model is illustrative. Next: analyse the App Store reviews for India versus international, then validate with larger or better-targeted data. Thanks for watching.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 slide, not part of the 5-minute talk track. Pause here if you want to show the evidence trail.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29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0"/>
            <a:ext cx="10698480" cy="1463040"/>
          </a:xfrm>
          <a:prstGeom prst="rect">
            <a:avLst/>
          </a:prstGeom>
          <a:noFill/>
        </p:spPr>
        <p:txBody>
          <a:bodyPr wrap="square" anchor="t" lIns="45720" rIns="45720">
            <a:spAutoFit/>
          </a:bodyPr>
          <a:lstStyle/>
          <a:p>
            <a:pPr algn="l">
              <a:spcAft>
                <a:spcPts val="800"/>
              </a:spcAft>
            </a:pPr>
            <a:r>
              <a:rPr sz="4800" b="1">
                <a:solidFill>
                  <a:srgbClr val="FFFFFF"/>
                </a:solidFill>
                <a:latin typeface="Calibri"/>
              </a:rPr>
              <a:t>Uber "Find My Ride"</a:t>
            </a:r>
          </a:p>
        </p:txBody>
      </p:sp>
      <p:sp>
        <p:nvSpPr>
          <p:cNvPr id="4" name="TextBox 3"/>
          <p:cNvSpPr txBox="1"/>
          <p:nvPr/>
        </p:nvSpPr>
        <p:spPr>
          <a:xfrm>
            <a:off x="731520" y="3108960"/>
            <a:ext cx="10698480" cy="1097280"/>
          </a:xfrm>
          <a:prstGeom prst="rect">
            <a:avLst/>
          </a:prstGeom>
          <a:noFill/>
        </p:spPr>
        <p:txBody>
          <a:bodyPr wrap="square" anchor="t" lIns="45720" rIns="45720">
            <a:spAutoFit/>
          </a:bodyPr>
          <a:lstStyle/>
          <a:p>
            <a:pPr algn="l">
              <a:spcAft>
                <a:spcPts val="800"/>
              </a:spcAft>
            </a:pPr>
            <a:r>
              <a:rPr sz="2400" b="0">
                <a:solidFill>
                  <a:srgbClr val="CBD5E1"/>
                </a:solidFill>
                <a:latin typeface="Calibri"/>
              </a:rPr>
              <a:t>Why riders and drivers struggle to find each other at pickup, and what the early evidence says</a:t>
            </a:r>
          </a:p>
        </p:txBody>
      </p:sp>
      <p:sp>
        <p:nvSpPr>
          <p:cNvPr id="5" name="TextBox 4"/>
          <p:cNvSpPr txBox="1"/>
          <p:nvPr/>
        </p:nvSpPr>
        <p:spPr>
          <a:xfrm>
            <a:off x="731520" y="4937760"/>
            <a:ext cx="10698480" cy="914400"/>
          </a:xfrm>
          <a:prstGeom prst="rect">
            <a:avLst/>
          </a:prstGeom>
          <a:noFill/>
        </p:spPr>
        <p:txBody>
          <a:bodyPr wrap="square" anchor="t" lIns="45720" rIns="45720">
            <a:spAutoFit/>
          </a:bodyPr>
          <a:lstStyle/>
          <a:p>
            <a:pPr algn="l">
              <a:spcAft>
                <a:spcPts val="800"/>
              </a:spcAft>
            </a:pPr>
            <a:r>
              <a:rPr sz="1600" b="0">
                <a:solidFill>
                  <a:srgbClr val="94A3B8"/>
                </a:solidFill>
                <a:latin typeface="Calibri"/>
              </a:rPr>
              <a:t>Product-management research project, IIMA AGMP</a:t>
            </a:r>
          </a:p>
          <a:p>
            <a:pPr algn="l">
              <a:spcAft>
                <a:spcPts val="800"/>
              </a:spcAft>
            </a:pPr>
            <a:r>
              <a:rPr sz="1600" b="0">
                <a:solidFill>
                  <a:srgbClr val="94A3B8"/>
                </a:solidFill>
                <a:latin typeface="Calibri"/>
              </a:rPr>
              <a:t>Progress update: primary survey (n=24) and an illustrative market-sizing model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2A6F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914400"/>
          </a:xfrm>
          <a:prstGeom prst="rect">
            <a:avLst/>
          </a:prstGeom>
          <a:noFill/>
        </p:spPr>
        <p:txBody>
          <a:bodyPr wrap="square" anchor="ctr" lIns="45720" rIns="45720">
            <a:spAutoFit/>
          </a:bodyPr>
          <a:lstStyle/>
          <a:p>
            <a:pPr algn="l">
              <a:spcAft>
                <a:spcPts val="800"/>
              </a:spcAft>
            </a:pPr>
            <a:r>
              <a:rPr sz="2800" b="1">
                <a:solidFill>
                  <a:srgbClr val="1F2933"/>
                </a:solidFill>
                <a:latin typeface="Calibri"/>
              </a:rPr>
              <a:t>What I did: a survey, cleaned with every decision logged</a:t>
            </a:r>
          </a:p>
        </p:txBody>
      </p:sp>
      <p:sp>
        <p:nvSpPr>
          <p:cNvPr id="4" name="TextBox 3"/>
          <p:cNvSpPr txBox="1"/>
          <p:nvPr/>
        </p:nvSpPr>
        <p:spPr>
          <a:xfrm>
            <a:off x="457200" y="6400800"/>
            <a:ext cx="11247120" cy="365760"/>
          </a:xfrm>
          <a:prstGeom prst="rect">
            <a:avLst/>
          </a:prstGeom>
          <a:noFill/>
        </p:spPr>
        <p:txBody>
          <a:bodyPr wrap="square" anchor="t" lIns="45720" rIns="45720">
            <a:spAutoFit/>
          </a:bodyPr>
          <a:lstStyle/>
          <a:p>
            <a:pPr algn="l">
              <a:spcAft>
                <a:spcPts val="800"/>
              </a:spcAft>
            </a:pPr>
            <a:r>
              <a:rPr sz="1000" b="0">
                <a:solidFill>
                  <a:srgbClr val="6B7785"/>
                </a:solidFill>
                <a:latin typeface="Calibri"/>
              </a:rPr>
              <a:t>Source: notebooks/Uber_Primary_EDA.ipynb; data/clean/Cleaning_Log.csv; uber-pickup-survey/create_uber_form.gs</a:t>
            </a:r>
          </a:p>
        </p:txBody>
      </p:sp>
      <p:sp>
        <p:nvSpPr>
          <p:cNvPr id="5" name="TextBox 4"/>
          <p:cNvSpPr txBox="1"/>
          <p:nvPr/>
        </p:nvSpPr>
        <p:spPr>
          <a:xfrm>
            <a:off x="640080" y="1554480"/>
            <a:ext cx="6583680" cy="4663440"/>
          </a:xfrm>
          <a:prstGeom prst="rect">
            <a:avLst/>
          </a:prstGeom>
          <a:noFill/>
        </p:spPr>
        <p:txBody>
          <a:bodyPr wrap="square" anchor="t" lIns="45720" rIns="45720">
            <a:spAutoFit/>
          </a:bodyPr>
          <a:lstStyle/>
          <a:p>
            <a:pPr algn="l">
              <a:spcAft>
                <a:spcPts val="800"/>
              </a:spcAft>
            </a:pPr>
            <a:r>
              <a:rPr sz="1900" b="0">
                <a:solidFill>
                  <a:srgbClr val="1F2933"/>
                </a:solidFill>
                <a:latin typeface="Calibri"/>
              </a:rPr>
              <a:t>•  27 responses received; 24 Uber users analysed</a:t>
            </a:r>
          </a:p>
          <a:p>
            <a:pPr algn="l">
              <a:spcAft>
                <a:spcPts val="800"/>
              </a:spcAft>
            </a:pPr>
            <a:r>
              <a:rPr sz="1900" b="0">
                <a:solidFill>
                  <a:srgbClr val="1F2933"/>
                </a:solidFill>
                <a:latin typeface="Calibri"/>
              </a:rPr>
              <a:t>•  3 rows excluded but kept in the file and flagged: 1 non-user, 2 suspected test entries (keyboard text)</a:t>
            </a:r>
          </a:p>
          <a:p>
            <a:pPr algn="l">
              <a:spcAft>
                <a:spcPts val="800"/>
              </a:spcAft>
            </a:pPr>
            <a:r>
              <a:rPr sz="1900" b="0">
                <a:solidFill>
                  <a:srgbClr val="1F2933"/>
                </a:solidFill>
                <a:latin typeface="Calibri"/>
              </a:rPr>
              <a:t>•  Question wording and options parsed from the form script, not retyped</a:t>
            </a:r>
          </a:p>
          <a:p>
            <a:pPr algn="l">
              <a:spcAft>
                <a:spcPts val="800"/>
              </a:spcAft>
            </a:pPr>
            <a:r>
              <a:rPr sz="1900" b="0">
                <a:solidFill>
                  <a:srgbClr val="1F2933"/>
                </a:solidFill>
                <a:latin typeface="Calibri"/>
              </a:rPr>
              <a:t>•  Multi-select shares use n=24 as denominator and overlap, so they are never summed</a:t>
            </a:r>
          </a:p>
          <a:p>
            <a:pPr algn="l">
              <a:spcAft>
                <a:spcPts val="800"/>
              </a:spcAft>
            </a:pPr>
            <a:r>
              <a:rPr sz="1900" b="0">
                <a:solidFill>
                  <a:srgbClr val="1F2933"/>
                </a:solidFill>
                <a:latin typeface="Calibri"/>
              </a:rPr>
              <a:t>•  Convenience sample: descriptive only, no causal or market-wide claims</a:t>
            </a:r>
          </a:p>
        </p:txBody>
      </p:sp>
      <p:sp>
        <p:nvSpPr>
          <p:cNvPr id="6" name="Rectangle 5"/>
          <p:cNvSpPr/>
          <p:nvPr/>
        </p:nvSpPr>
        <p:spPr>
          <a:xfrm>
            <a:off x="7772400" y="1737360"/>
            <a:ext cx="3931920" cy="40233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79" y="1828800"/>
            <a:ext cx="3566160" cy="3840480"/>
          </a:xfrm>
          <a:prstGeom prst="rect">
            <a:avLst/>
          </a:prstGeom>
          <a:noFill/>
        </p:spPr>
        <p:txBody>
          <a:bodyPr wrap="square" anchor="t" lIns="45720" rIns="45720">
            <a:spAutoFit/>
          </a:bodyPr>
          <a:lstStyle/>
          <a:p>
            <a:pPr algn="l">
              <a:spcAft>
                <a:spcPts val="800"/>
              </a:spcAft>
            </a:pPr>
            <a:r>
              <a:rPr sz="1500" b="0">
                <a:solidFill>
                  <a:srgbClr val="1F2933"/>
                </a:solidFill>
                <a:latin typeface="Calibri"/>
              </a:rPr>
              <a:t>Data used so far</a:t>
            </a:r>
          </a:p>
          <a:p>
            <a:pPr algn="l">
              <a:spcAft>
                <a:spcPts val="800"/>
              </a:spcAft>
            </a:pPr>
            <a:r>
              <a:rPr sz="1500" b="0">
                <a:solidFill>
                  <a:srgbClr val="1F2933"/>
                </a:solidFill>
                <a:latin typeface="Calibri"/>
              </a:rPr>
              <a:t>Survey Excel export (27 rows x 29 columns)</a:t>
            </a:r>
          </a:p>
          <a:p>
            <a:pPr algn="l">
              <a:spcAft>
                <a:spcPts val="800"/>
              </a:spcAft>
            </a:pPr>
            <a:r>
              <a:rPr sz="1500" b="0">
                <a:solidFill>
                  <a:srgbClr val="1F2933"/>
                </a:solidFill>
                <a:latin typeface="Calibri"/>
              </a:rPr>
              <a:t>Illustrative TAM/SAM/SOM workbook</a:t>
            </a:r>
          </a:p>
          <a:p>
            <a:pPr algn="l">
              <a:spcAft>
                <a:spcPts val="800"/>
              </a:spcAft>
            </a:pPr>
            <a:r>
              <a:rPr sz="1500" b="0">
                <a:solidFill>
                  <a:srgbClr val="1F2933"/>
                </a:solidFill>
                <a:latin typeface="Calibri"/>
              </a:rPr>
              <a:t/>
            </a:r>
          </a:p>
          <a:p>
            <a:pPr algn="l">
              <a:spcAft>
                <a:spcPts val="800"/>
              </a:spcAft>
            </a:pPr>
            <a:r>
              <a:rPr sz="1500" b="0">
                <a:solidFill>
                  <a:srgbClr val="1F2933"/>
                </a:solidFill>
                <a:latin typeface="Calibri"/>
              </a:rPr>
              <a:t>Not yet analysed</a:t>
            </a:r>
          </a:p>
          <a:p>
            <a:pPr algn="l">
              <a:spcAft>
                <a:spcPts val="800"/>
              </a:spcAft>
            </a:pPr>
            <a:r>
              <a:rPr sz="1500" b="0">
                <a:solidFill>
                  <a:srgbClr val="1F2933"/>
                </a:solidFill>
                <a:latin typeface="Calibri"/>
              </a:rPr>
              <a:t>App Store review pages (India and US)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2A6F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914400"/>
          </a:xfrm>
          <a:prstGeom prst="rect">
            <a:avLst/>
          </a:prstGeom>
          <a:noFill/>
        </p:spPr>
        <p:txBody>
          <a:bodyPr wrap="square" anchor="ctr" lIns="45720" rIns="45720">
            <a:spAutoFit/>
          </a:bodyPr>
          <a:lstStyle/>
          <a:p>
            <a:pPr algn="l">
              <a:spcAft>
                <a:spcPts val="800"/>
              </a:spcAft>
            </a:pPr>
            <a:r>
              <a:rPr sz="2800" b="1">
                <a:solidFill>
                  <a:srgbClr val="1F2933"/>
                </a:solidFill>
                <a:latin typeface="Calibri"/>
              </a:rPr>
              <a:t>Difficulty is the norm: 22 of 24 have booked from a crowded place</a:t>
            </a:r>
          </a:p>
        </p:txBody>
      </p:sp>
      <p:sp>
        <p:nvSpPr>
          <p:cNvPr id="4" name="TextBox 3"/>
          <p:cNvSpPr txBox="1"/>
          <p:nvPr/>
        </p:nvSpPr>
        <p:spPr>
          <a:xfrm>
            <a:off x="457200" y="6400800"/>
            <a:ext cx="11247120" cy="365760"/>
          </a:xfrm>
          <a:prstGeom prst="rect">
            <a:avLst/>
          </a:prstGeom>
          <a:noFill/>
        </p:spPr>
        <p:txBody>
          <a:bodyPr wrap="square" anchor="t" lIns="45720" rIns="45720">
            <a:spAutoFit/>
          </a:bodyPr>
          <a:lstStyle/>
          <a:p>
            <a:pPr algn="l">
              <a:spcAft>
                <a:spcPts val="800"/>
              </a:spcAft>
            </a:pPr>
            <a:r>
              <a:rPr sz="1000" b="0">
                <a:solidFill>
                  <a:srgbClr val="6B7785"/>
                </a:solidFill>
                <a:latin typeface="Calibri"/>
              </a:rPr>
              <a:t>Source: Uber Ride &amp; Pickup Experience Survey, n=24 Uber users (convenience sample), Q3 and Q6 (multi-select, shares overlap)</a:t>
            </a:r>
          </a:p>
        </p:txBody>
      </p:sp>
      <p:pic>
        <p:nvPicPr>
          <p:cNvPr id="5" name="Picture 4" descr="q6_difficulties.png"/>
          <p:cNvPicPr>
            <a:picLocks noChangeAspect="1"/>
          </p:cNvPicPr>
          <p:nvPr/>
        </p:nvPicPr>
        <p:blipFill>
          <a:blip r:embed="rId3"/>
          <a:stretch>
            <a:fillRect/>
          </a:stretch>
        </p:blipFill>
        <p:spPr>
          <a:xfrm>
            <a:off x="457200" y="1504759"/>
            <a:ext cx="6126480" cy="4671441"/>
          </a:xfrm>
          <a:prstGeom prst="rect">
            <a:avLst/>
          </a:prstGeom>
        </p:spPr>
      </p:pic>
      <p:sp>
        <p:nvSpPr>
          <p:cNvPr id="6" name="TextBox 5"/>
          <p:cNvSpPr txBox="1"/>
          <p:nvPr/>
        </p:nvSpPr>
        <p:spPr>
          <a:xfrm>
            <a:off x="6766560" y="1554480"/>
            <a:ext cx="5029200" cy="4663440"/>
          </a:xfrm>
          <a:prstGeom prst="rect">
            <a:avLst/>
          </a:prstGeom>
          <a:noFill/>
        </p:spPr>
        <p:txBody>
          <a:bodyPr wrap="square" anchor="t" lIns="45720" rIns="45720">
            <a:spAutoFit/>
          </a:bodyPr>
          <a:lstStyle/>
          <a:p>
            <a:pPr algn="l">
              <a:spcAft>
                <a:spcPts val="800"/>
              </a:spcAft>
            </a:pPr>
            <a:r>
              <a:rPr sz="1700" b="0">
                <a:solidFill>
                  <a:srgbClr val="1F2933"/>
                </a:solidFill>
                <a:latin typeface="Calibri"/>
              </a:rPr>
              <a:t>•  Entrance/gate confusion leads: 13 of 24 (54%)</a:t>
            </a:r>
          </a:p>
          <a:p>
            <a:pPr algn="l">
              <a:spcAft>
                <a:spcPts val="800"/>
              </a:spcAft>
            </a:pPr>
            <a:r>
              <a:rPr sz="1700" b="0">
                <a:solidFill>
                  <a:srgbClr val="1F2933"/>
                </a:solidFill>
                <a:latin typeface="Calibri"/>
              </a:rPr>
              <a:t>•  Long waiting 11 (46%); wrong pickup pin 10 (42%)</a:t>
            </a:r>
          </a:p>
          <a:p>
            <a:pPr algn="l">
              <a:spcAft>
                <a:spcPts val="800"/>
              </a:spcAft>
            </a:pPr>
            <a:r>
              <a:rPr sz="1700" b="0">
                <a:solidFill>
                  <a:srgbClr val="1F2933"/>
                </a:solidFill>
                <a:latin typeface="Calibri"/>
              </a:rPr>
              <a:t>•  Driver could not find spot: 9; asked rider to walk: 8</a:t>
            </a:r>
          </a:p>
          <a:p>
            <a:pPr algn="l">
              <a:spcAft>
                <a:spcPts val="800"/>
              </a:spcAft>
            </a:pPr>
            <a:r>
              <a:rPr sz="1700" b="0">
                <a:solidFill>
                  <a:srgbClr val="1F2933"/>
                </a:solidFill>
                <a:latin typeface="Calibri"/>
              </a:rPr>
              <a:t>•  Mean overall rating 3.79 / 5: moderate, not low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2A6F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914400"/>
          </a:xfrm>
          <a:prstGeom prst="rect">
            <a:avLst/>
          </a:prstGeom>
          <a:noFill/>
        </p:spPr>
        <p:txBody>
          <a:bodyPr wrap="square" anchor="ctr" lIns="45720" rIns="45720">
            <a:spAutoFit/>
          </a:bodyPr>
          <a:lstStyle/>
          <a:p>
            <a:pPr algn="l">
              <a:spcAft>
                <a:spcPts val="800"/>
              </a:spcAft>
            </a:pPr>
            <a:r>
              <a:rPr sz="2800" b="1">
                <a:solidFill>
                  <a:srgbClr val="1F2933"/>
                </a:solidFill>
                <a:latin typeface="Calibri"/>
              </a:rPr>
              <a:t>Where it happens: difficulty is reported across many location types</a:t>
            </a:r>
          </a:p>
        </p:txBody>
      </p:sp>
      <p:sp>
        <p:nvSpPr>
          <p:cNvPr id="4" name="TextBox 3"/>
          <p:cNvSpPr txBox="1"/>
          <p:nvPr/>
        </p:nvSpPr>
        <p:spPr>
          <a:xfrm>
            <a:off x="457200" y="1097280"/>
            <a:ext cx="11247120" cy="365760"/>
          </a:xfrm>
          <a:prstGeom prst="rect">
            <a:avLst/>
          </a:prstGeom>
          <a:noFill/>
        </p:spPr>
        <p:txBody>
          <a:bodyPr wrap="square" anchor="t" lIns="45720" rIns="45720">
            <a:spAutoFit/>
          </a:bodyPr>
          <a:lstStyle/>
          <a:p>
            <a:pPr algn="l">
              <a:spcAft>
                <a:spcPts val="800"/>
              </a:spcAft>
            </a:pPr>
            <a:r>
              <a:rPr sz="1300" b="1">
                <a:solidFill>
                  <a:srgbClr val="B45309"/>
                </a:solidFill>
                <a:latin typeface="Calibri"/>
              </a:rPr>
              <a:t>Pattern to test, not a measured failure rate (cells are small)</a:t>
            </a:r>
          </a:p>
        </p:txBody>
      </p:sp>
      <p:sp>
        <p:nvSpPr>
          <p:cNvPr id="5" name="TextBox 4"/>
          <p:cNvSpPr txBox="1"/>
          <p:nvPr/>
        </p:nvSpPr>
        <p:spPr>
          <a:xfrm>
            <a:off x="457200" y="6400800"/>
            <a:ext cx="11247120" cy="365760"/>
          </a:xfrm>
          <a:prstGeom prst="rect">
            <a:avLst/>
          </a:prstGeom>
          <a:noFill/>
        </p:spPr>
        <p:txBody>
          <a:bodyPr wrap="square" anchor="t" lIns="45720" rIns="45720">
            <a:spAutoFit/>
          </a:bodyPr>
          <a:lstStyle/>
          <a:p>
            <a:pPr algn="l">
              <a:spcAft>
                <a:spcPts val="800"/>
              </a:spcAft>
            </a:pPr>
            <a:r>
              <a:rPr sz="1000" b="0">
                <a:solidFill>
                  <a:srgbClr val="6B7785"/>
                </a:solidFill>
                <a:latin typeface="Calibri"/>
              </a:rPr>
              <a:t>Source: Uber Ride &amp; Pickup Experience Survey, n=24 Uber users (convenience sample), Q4 x Q6 respondent-level cross-tab. Cells are counts; small cells are anecdotal</a:t>
            </a:r>
          </a:p>
        </p:txBody>
      </p:sp>
      <p:pic>
        <p:nvPicPr>
          <p:cNvPr id="6" name="Picture 5" descr="heatmap_location_x_difficulty.png"/>
          <p:cNvPicPr>
            <a:picLocks noChangeAspect="1"/>
          </p:cNvPicPr>
          <p:nvPr/>
        </p:nvPicPr>
        <p:blipFill>
          <a:blip r:embed="rId3"/>
          <a:stretch>
            <a:fillRect/>
          </a:stretch>
        </p:blipFill>
        <p:spPr>
          <a:xfrm>
            <a:off x="365760" y="1642341"/>
            <a:ext cx="7589520" cy="4487716"/>
          </a:xfrm>
          <a:prstGeom prst="rect">
            <a:avLst/>
          </a:prstGeom>
        </p:spPr>
      </p:pic>
      <p:sp>
        <p:nvSpPr>
          <p:cNvPr id="7" name="TextBox 6"/>
          <p:cNvSpPr txBox="1"/>
          <p:nvPr/>
        </p:nvSpPr>
        <p:spPr>
          <a:xfrm>
            <a:off x="8138160" y="1645920"/>
            <a:ext cx="3749039" cy="4663440"/>
          </a:xfrm>
          <a:prstGeom prst="rect">
            <a:avLst/>
          </a:prstGeom>
          <a:noFill/>
        </p:spPr>
        <p:txBody>
          <a:bodyPr wrap="square" anchor="t" lIns="45720" rIns="45720">
            <a:spAutoFit/>
          </a:bodyPr>
          <a:lstStyle/>
          <a:p>
            <a:pPr algn="l">
              <a:spcAft>
                <a:spcPts val="800"/>
              </a:spcAft>
            </a:pPr>
            <a:r>
              <a:rPr sz="1600" b="0">
                <a:solidFill>
                  <a:srgbClr val="1F2933"/>
                </a:solidFill>
                <a:latin typeface="Calibri"/>
              </a:rPr>
              <a:t>•  Malls: long waiting 6 of 9 who reported mall difficulty</a:t>
            </a:r>
          </a:p>
          <a:p>
            <a:pPr algn="l">
              <a:spcAft>
                <a:spcPts val="800"/>
              </a:spcAft>
            </a:pPr>
            <a:r>
              <a:rPr sz="1600" b="0">
                <a:solidFill>
                  <a:srgbClr val="1F2933"/>
                </a:solidFill>
                <a:latin typeface="Calibri"/>
              </a:rPr>
              <a:t>•  Residential complexes: long waiting 5 of 6</a:t>
            </a:r>
          </a:p>
          <a:p>
            <a:pPr algn="l">
              <a:spcAft>
                <a:spcPts val="800"/>
              </a:spcAft>
            </a:pPr>
            <a:r>
              <a:rPr sz="1600" b="0">
                <a:solidFill>
                  <a:srgbClr val="1F2933"/>
                </a:solidFill>
                <a:latin typeface="Calibri"/>
              </a:rPr>
              <a:t>•  Gate confusion is highest at crowded markets and railway/bus stations</a:t>
            </a:r>
          </a:p>
          <a:p>
            <a:pPr algn="l">
              <a:spcAft>
                <a:spcPts val="800"/>
              </a:spcAft>
            </a:pPr>
            <a:r>
              <a:rPr sz="1600" b="0">
                <a:solidFill>
                  <a:srgbClr val="1F2933"/>
                </a:solidFill>
                <a:latin typeface="Calibri"/>
              </a:rPr>
              <a:t>•  Counts are respondents, not rides, so locations cannot be ranked by failure rate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2A6F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914400"/>
          </a:xfrm>
          <a:prstGeom prst="rect">
            <a:avLst/>
          </a:prstGeom>
          <a:noFill/>
        </p:spPr>
        <p:txBody>
          <a:bodyPr wrap="square" anchor="ctr" lIns="45720" rIns="45720">
            <a:spAutoFit/>
          </a:bodyPr>
          <a:lstStyle/>
          <a:p>
            <a:pPr algn="l">
              <a:spcAft>
                <a:spcPts val="800"/>
              </a:spcAft>
            </a:pPr>
            <a:r>
              <a:rPr sz="2800" b="1">
                <a:solidFill>
                  <a:srgbClr val="1F2933"/>
                </a:solidFill>
                <a:latin typeface="Calibri"/>
              </a:rPr>
              <a:t>The cost to riders: time pressure, and 10 of 24 pickups ended in cancellation</a:t>
            </a:r>
          </a:p>
        </p:txBody>
      </p:sp>
      <p:sp>
        <p:nvSpPr>
          <p:cNvPr id="4" name="TextBox 3"/>
          <p:cNvSpPr txBox="1"/>
          <p:nvPr/>
        </p:nvSpPr>
        <p:spPr>
          <a:xfrm>
            <a:off x="457200" y="6400800"/>
            <a:ext cx="11247120" cy="365760"/>
          </a:xfrm>
          <a:prstGeom prst="rect">
            <a:avLst/>
          </a:prstGeom>
          <a:noFill/>
        </p:spPr>
        <p:txBody>
          <a:bodyPr wrap="square" anchor="t" lIns="45720" rIns="45720">
            <a:spAutoFit/>
          </a:bodyPr>
          <a:lstStyle/>
          <a:p>
            <a:pPr algn="l">
              <a:spcAft>
                <a:spcPts val="800"/>
              </a:spcAft>
            </a:pPr>
            <a:r>
              <a:rPr sz="1000" b="0">
                <a:solidFill>
                  <a:srgbClr val="6B7785"/>
                </a:solidFill>
                <a:latin typeface="Calibri"/>
              </a:rPr>
              <a:t>Source: Uber Ride &amp; Pickup Experience Survey, n=24 Uber users (convenience sample), Q9 (multi-select) and Q10 (single-select, shares add to 100%)</a:t>
            </a:r>
          </a:p>
        </p:txBody>
      </p:sp>
      <p:pic>
        <p:nvPicPr>
          <p:cNvPr id="5" name="Picture 4" descr="q9_feelings.png"/>
          <p:cNvPicPr>
            <a:picLocks noChangeAspect="1"/>
          </p:cNvPicPr>
          <p:nvPr/>
        </p:nvPicPr>
        <p:blipFill>
          <a:blip r:embed="rId3"/>
          <a:stretch>
            <a:fillRect/>
          </a:stretch>
        </p:blipFill>
        <p:spPr>
          <a:xfrm>
            <a:off x="365760" y="1810512"/>
            <a:ext cx="5669280" cy="3968496"/>
          </a:xfrm>
          <a:prstGeom prst="rect">
            <a:avLst/>
          </a:prstGeom>
        </p:spPr>
      </p:pic>
      <p:pic>
        <p:nvPicPr>
          <p:cNvPr id="6" name="Picture 5" descr="q10_outcomes.png"/>
          <p:cNvPicPr>
            <a:picLocks noChangeAspect="1"/>
          </p:cNvPicPr>
          <p:nvPr/>
        </p:nvPicPr>
        <p:blipFill>
          <a:blip r:embed="rId4"/>
          <a:stretch>
            <a:fillRect/>
          </a:stretch>
        </p:blipFill>
        <p:spPr>
          <a:xfrm>
            <a:off x="6217920" y="2342007"/>
            <a:ext cx="5669280" cy="2905506"/>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2A6F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914400"/>
          </a:xfrm>
          <a:prstGeom prst="rect">
            <a:avLst/>
          </a:prstGeom>
          <a:noFill/>
        </p:spPr>
        <p:txBody>
          <a:bodyPr wrap="square" anchor="ctr" lIns="45720" rIns="45720">
            <a:spAutoFit/>
          </a:bodyPr>
          <a:lstStyle/>
          <a:p>
            <a:pPr algn="l">
              <a:spcAft>
                <a:spcPts val="800"/>
              </a:spcAft>
            </a:pPr>
            <a:r>
              <a:rPr sz="2800" b="1">
                <a:solidFill>
                  <a:srgbClr val="1F2933"/>
                </a:solidFill>
                <a:latin typeface="Calibri"/>
              </a:rPr>
              <a:t>The app helps only partly: calls fill the last few metres</a:t>
            </a:r>
          </a:p>
        </p:txBody>
      </p:sp>
      <p:sp>
        <p:nvSpPr>
          <p:cNvPr id="4" name="TextBox 3"/>
          <p:cNvSpPr txBox="1"/>
          <p:nvPr/>
        </p:nvSpPr>
        <p:spPr>
          <a:xfrm>
            <a:off x="457200" y="6400800"/>
            <a:ext cx="11247120" cy="365760"/>
          </a:xfrm>
          <a:prstGeom prst="rect">
            <a:avLst/>
          </a:prstGeom>
          <a:noFill/>
        </p:spPr>
        <p:txBody>
          <a:bodyPr wrap="square" anchor="t" lIns="45720" rIns="45720">
            <a:spAutoFit/>
          </a:bodyPr>
          <a:lstStyle/>
          <a:p>
            <a:pPr algn="l">
              <a:spcAft>
                <a:spcPts val="800"/>
              </a:spcAft>
            </a:pPr>
            <a:r>
              <a:rPr sz="1000" b="0">
                <a:solidFill>
                  <a:srgbClr val="6B7785"/>
                </a:solidFill>
                <a:latin typeface="Calibri"/>
              </a:rPr>
              <a:t>Source: Uber Ride &amp; Pickup Experience Survey, n=24 Uber users (convenience sample), Q5 (single-select) and Q7 (multi-select, shares overlap)</a:t>
            </a:r>
          </a:p>
        </p:txBody>
      </p:sp>
      <p:pic>
        <p:nvPicPr>
          <p:cNvPr id="5" name="Picture 4" descr="q5_app_helpfulness.png"/>
          <p:cNvPicPr>
            <a:picLocks noChangeAspect="1"/>
          </p:cNvPicPr>
          <p:nvPr/>
        </p:nvPicPr>
        <p:blipFill>
          <a:blip r:embed="rId3"/>
          <a:stretch>
            <a:fillRect/>
          </a:stretch>
        </p:blipFill>
        <p:spPr>
          <a:xfrm>
            <a:off x="365760" y="1553337"/>
            <a:ext cx="5669280" cy="2196846"/>
          </a:xfrm>
          <a:prstGeom prst="rect">
            <a:avLst/>
          </a:prstGeom>
        </p:spPr>
      </p:pic>
      <p:pic>
        <p:nvPicPr>
          <p:cNvPr id="6" name="Picture 5" descr="q7_driver_coordination.png"/>
          <p:cNvPicPr>
            <a:picLocks noChangeAspect="1"/>
          </p:cNvPicPr>
          <p:nvPr/>
        </p:nvPicPr>
        <p:blipFill>
          <a:blip r:embed="rId4"/>
          <a:stretch>
            <a:fillRect/>
          </a:stretch>
        </p:blipFill>
        <p:spPr>
          <a:xfrm>
            <a:off x="6217920" y="1399032"/>
            <a:ext cx="5669280" cy="3968496"/>
          </a:xfrm>
          <a:prstGeom prst="rect">
            <a:avLst/>
          </a:prstGeom>
        </p:spPr>
      </p:pic>
      <p:sp>
        <p:nvSpPr>
          <p:cNvPr id="7" name="TextBox 6"/>
          <p:cNvSpPr txBox="1"/>
          <p:nvPr/>
        </p:nvSpPr>
        <p:spPr>
          <a:xfrm>
            <a:off x="457200" y="4114800"/>
            <a:ext cx="5486400" cy="2194560"/>
          </a:xfrm>
          <a:prstGeom prst="rect">
            <a:avLst/>
          </a:prstGeom>
          <a:noFill/>
        </p:spPr>
        <p:txBody>
          <a:bodyPr wrap="square" anchor="t" lIns="45720" rIns="45720">
            <a:spAutoFit/>
          </a:bodyPr>
          <a:lstStyle/>
          <a:p>
            <a:pPr algn="l">
              <a:spcAft>
                <a:spcPts val="800"/>
              </a:spcAft>
            </a:pPr>
            <a:r>
              <a:rPr sz="1600" b="0">
                <a:solidFill>
                  <a:srgbClr val="1F2933"/>
                </a:solidFill>
                <a:latin typeface="Calibri"/>
              </a:rPr>
              <a:t>10 of 24 (42%) find the app sometimes confusing or inaccurate</a:t>
            </a:r>
          </a:p>
          <a:p>
            <a:pPr algn="l">
              <a:spcAft>
                <a:spcPts val="800"/>
              </a:spcAft>
            </a:pPr>
            <a:r>
              <a:rPr sz="1600" b="0">
                <a:solidFill>
                  <a:srgbClr val="1F2933"/>
                </a:solidFill>
                <a:latin typeface="Calibri"/>
              </a:rPr>
              <a:t>Only 4 of 24 saw the driver help pick a meeting point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2A6F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914400"/>
          </a:xfrm>
          <a:prstGeom prst="rect">
            <a:avLst/>
          </a:prstGeom>
          <a:noFill/>
        </p:spPr>
        <p:txBody>
          <a:bodyPr wrap="square" anchor="ctr" lIns="45720" rIns="45720">
            <a:spAutoFit/>
          </a:bodyPr>
          <a:lstStyle/>
          <a:p>
            <a:pPr algn="l">
              <a:spcAft>
                <a:spcPts val="800"/>
              </a:spcAft>
            </a:pPr>
            <a:r>
              <a:rPr sz="2800" b="1">
                <a:solidFill>
                  <a:srgbClr val="1F2933"/>
                </a:solidFill>
                <a:latin typeface="Calibri"/>
              </a:rPr>
              <a:t>Market size (illustrative): a large pool, with a small addressable slice</a:t>
            </a:r>
          </a:p>
        </p:txBody>
      </p:sp>
      <p:sp>
        <p:nvSpPr>
          <p:cNvPr id="4" name="TextBox 3"/>
          <p:cNvSpPr txBox="1"/>
          <p:nvPr/>
        </p:nvSpPr>
        <p:spPr>
          <a:xfrm>
            <a:off x="457200" y="1097280"/>
            <a:ext cx="11247120" cy="365760"/>
          </a:xfrm>
          <a:prstGeom prst="rect">
            <a:avLst/>
          </a:prstGeom>
          <a:noFill/>
        </p:spPr>
        <p:txBody>
          <a:bodyPr wrap="square" anchor="t" lIns="45720" rIns="45720">
            <a:spAutoFit/>
          </a:bodyPr>
          <a:lstStyle/>
          <a:p>
            <a:pPr algn="l">
              <a:spcAft>
                <a:spcPts val="800"/>
              </a:spcAft>
            </a:pPr>
            <a:r>
              <a:rPr sz="1300" b="1">
                <a:solidFill>
                  <a:srgbClr val="B45309"/>
                </a:solidFill>
                <a:latin typeface="Calibri"/>
              </a:rPr>
              <a:t>ILLUSTRATIVE MODEL. NOT A VALIDATED MARKET ESTIMATE</a:t>
            </a:r>
          </a:p>
        </p:txBody>
      </p:sp>
      <p:sp>
        <p:nvSpPr>
          <p:cNvPr id="5" name="TextBox 4"/>
          <p:cNvSpPr txBox="1"/>
          <p:nvPr/>
        </p:nvSpPr>
        <p:spPr>
          <a:xfrm>
            <a:off x="457200" y="6400800"/>
            <a:ext cx="11247120" cy="365760"/>
          </a:xfrm>
          <a:prstGeom prst="rect">
            <a:avLst/>
          </a:prstGeom>
          <a:noFill/>
        </p:spPr>
        <p:txBody>
          <a:bodyPr wrap="square" anchor="t" lIns="45720" rIns="45720">
            <a:spAutoFit/>
          </a:bodyPr>
          <a:lstStyle/>
          <a:p>
            <a:pPr algn="l">
              <a:spcAft>
                <a:spcPts val="800"/>
              </a:spcAft>
            </a:pPr>
            <a:r>
              <a:rPr sz="1000" b="0">
                <a:solidFill>
                  <a:srgbClr val="6B7785"/>
                </a:solidFill>
                <a:latin typeface="Calibri"/>
              </a:rPr>
              <a:t>Source: outputs/Uber_TAM_SAM_SOM.xlsx (Model, Assumptions, Source_Registry); Uber India newsroom 2025 (11.6 bn km)</a:t>
            </a:r>
          </a:p>
        </p:txBody>
      </p:sp>
      <p:pic>
        <p:nvPicPr>
          <p:cNvPr id="6" name="Picture 5" descr="TAM_SAM_SOM_funnel.png"/>
          <p:cNvPicPr>
            <a:picLocks noChangeAspect="1"/>
          </p:cNvPicPr>
          <p:nvPr/>
        </p:nvPicPr>
        <p:blipFill>
          <a:blip r:embed="rId3"/>
          <a:stretch>
            <a:fillRect/>
          </a:stretch>
        </p:blipFill>
        <p:spPr>
          <a:xfrm>
            <a:off x="365760" y="2023317"/>
            <a:ext cx="7498079" cy="3817204"/>
          </a:xfrm>
          <a:prstGeom prst="rect">
            <a:avLst/>
          </a:prstGeom>
        </p:spPr>
      </p:pic>
      <p:sp>
        <p:nvSpPr>
          <p:cNvPr id="7" name="TextBox 6"/>
          <p:cNvSpPr txBox="1"/>
          <p:nvPr/>
        </p:nvSpPr>
        <p:spPr>
          <a:xfrm>
            <a:off x="8046720" y="1645920"/>
            <a:ext cx="3840480" cy="4663440"/>
          </a:xfrm>
          <a:prstGeom prst="rect">
            <a:avLst/>
          </a:prstGeom>
          <a:noFill/>
        </p:spPr>
        <p:txBody>
          <a:bodyPr wrap="square" anchor="t" lIns="45720" rIns="45720">
            <a:spAutoFit/>
          </a:bodyPr>
          <a:lstStyle/>
          <a:p>
            <a:pPr algn="l">
              <a:spcAft>
                <a:spcPts val="800"/>
              </a:spcAft>
            </a:pPr>
            <a:r>
              <a:rPr sz="1500" b="0">
                <a:solidFill>
                  <a:srgbClr val="1F2933"/>
                </a:solidFill>
                <a:latin typeface="Calibri"/>
              </a:rPr>
              <a:t>•  TAM 2,417M, SAM 406M, SOM 101.5M events a year (base)</a:t>
            </a:r>
          </a:p>
          <a:p>
            <a:pPr algn="l">
              <a:spcAft>
                <a:spcPts val="800"/>
              </a:spcAft>
            </a:pPr>
            <a:r>
              <a:rPr sz="1500" b="0">
                <a:solidFill>
                  <a:srgbClr val="1F2933"/>
                </a:solidFill>
                <a:latin typeface="Calibri"/>
              </a:rPr>
              <a:t>•  3.6M events addressable; value about INR 5.3 crore (range 0.08 to 94)</a:t>
            </a:r>
          </a:p>
          <a:p>
            <a:pPr algn="l">
              <a:spcAft>
                <a:spcPts val="800"/>
              </a:spcAft>
            </a:pPr>
            <a:r>
              <a:rPr sz="1500" b="0">
                <a:solidFill>
                  <a:srgbClr val="1F2933"/>
                </a:solidFill>
                <a:latin typeface="Calibri"/>
              </a:rPr>
              <a:t>•  Sourced: Uber 11.6 bn km and market shares only</a:t>
            </a:r>
          </a:p>
          <a:p>
            <a:pPr algn="l">
              <a:spcAft>
                <a:spcPts val="800"/>
              </a:spcAft>
            </a:pPr>
            <a:r>
              <a:rPr sz="1500" b="0">
                <a:solidFill>
                  <a:srgbClr val="1F2933"/>
                </a:solidFill>
                <a:latin typeface="Calibri"/>
              </a:rPr>
              <a:t>•  Assumptions, not evidence: problem rate, effectiveness, reach, fare, take rate</a:t>
            </a:r>
          </a:p>
          <a:p>
            <a:pPr algn="l">
              <a:spcAft>
                <a:spcPts val="800"/>
              </a:spcAft>
            </a:pPr>
            <a:r>
              <a:rPr sz="1500" b="0">
                <a:solidFill>
                  <a:srgbClr val="1F2933"/>
                </a:solidFill>
                <a:latin typeface="Calibri"/>
              </a:rPr>
              <a:t>•  Survey was not used to set the problem rate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2A6F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914400"/>
          </a:xfrm>
          <a:prstGeom prst="rect">
            <a:avLst/>
          </a:prstGeom>
          <a:noFill/>
        </p:spPr>
        <p:txBody>
          <a:bodyPr wrap="square" anchor="ctr" lIns="45720" rIns="45720">
            <a:spAutoFit/>
          </a:bodyPr>
          <a:lstStyle/>
          <a:p>
            <a:pPr algn="l">
              <a:spcAft>
                <a:spcPts val="800"/>
              </a:spcAft>
            </a:pPr>
            <a:r>
              <a:rPr sz="2800" b="1">
                <a:solidFill>
                  <a:srgbClr val="1F2933"/>
                </a:solidFill>
                <a:latin typeface="Calibri"/>
              </a:rPr>
              <a:t>So what: three hypotheses to test, plus the limits of this evidence</a:t>
            </a:r>
          </a:p>
        </p:txBody>
      </p:sp>
      <p:sp>
        <p:nvSpPr>
          <p:cNvPr id="4" name="TextBox 3"/>
          <p:cNvSpPr txBox="1"/>
          <p:nvPr/>
        </p:nvSpPr>
        <p:spPr>
          <a:xfrm>
            <a:off x="457200" y="6400800"/>
            <a:ext cx="11247120" cy="365760"/>
          </a:xfrm>
          <a:prstGeom prst="rect">
            <a:avLst/>
          </a:prstGeom>
          <a:noFill/>
        </p:spPr>
        <p:txBody>
          <a:bodyPr wrap="square" anchor="t" lIns="45720" rIns="45720">
            <a:spAutoFit/>
          </a:bodyPr>
          <a:lstStyle/>
          <a:p>
            <a:pPr algn="l">
              <a:spcAft>
                <a:spcPts val="800"/>
              </a:spcAft>
            </a:pPr>
            <a:r>
              <a:rPr sz="1000" b="0">
                <a:solidFill>
                  <a:srgbClr val="6B7785"/>
                </a:solidFill>
                <a:latin typeface="Calibri"/>
              </a:rPr>
              <a:t>Source: Uber Ride &amp; Pickup Experience Survey, n=24 Uber users (convenience sample); outputs/Uber_TAM_SAM_SOM.xlsx. Hypotheses are not findings</a:t>
            </a:r>
          </a:p>
        </p:txBody>
      </p:sp>
      <p:sp>
        <p:nvSpPr>
          <p:cNvPr id="5" name="TextBox 4"/>
          <p:cNvSpPr txBox="1"/>
          <p:nvPr/>
        </p:nvSpPr>
        <p:spPr>
          <a:xfrm>
            <a:off x="548640" y="1371600"/>
            <a:ext cx="5760720" cy="457200"/>
          </a:xfrm>
          <a:prstGeom prst="rect">
            <a:avLst/>
          </a:prstGeom>
          <a:noFill/>
        </p:spPr>
        <p:txBody>
          <a:bodyPr wrap="square" anchor="t" lIns="45720" rIns="45720">
            <a:spAutoFit/>
          </a:bodyPr>
          <a:lstStyle/>
          <a:p>
            <a:pPr algn="l">
              <a:spcAft>
                <a:spcPts val="800"/>
              </a:spcAft>
            </a:pPr>
            <a:r>
              <a:rPr sz="2000" b="1">
                <a:solidFill>
                  <a:srgbClr val="2A6F97"/>
                </a:solidFill>
                <a:latin typeface="Calibri"/>
              </a:rPr>
              <a:t>Hypotheses to test</a:t>
            </a:r>
          </a:p>
        </p:txBody>
      </p:sp>
      <p:sp>
        <p:nvSpPr>
          <p:cNvPr id="6" name="TextBox 5"/>
          <p:cNvSpPr txBox="1"/>
          <p:nvPr/>
        </p:nvSpPr>
        <p:spPr>
          <a:xfrm>
            <a:off x="548640" y="1920240"/>
            <a:ext cx="5760720" cy="4389120"/>
          </a:xfrm>
          <a:prstGeom prst="rect">
            <a:avLst/>
          </a:prstGeom>
          <a:noFill/>
        </p:spPr>
        <p:txBody>
          <a:bodyPr wrap="square" anchor="t" lIns="45720" rIns="45720">
            <a:spAutoFit/>
          </a:bodyPr>
          <a:lstStyle/>
          <a:p>
            <a:pPr algn="l">
              <a:spcAft>
                <a:spcPts val="800"/>
              </a:spcAft>
            </a:pPr>
            <a:r>
              <a:rPr sz="1600" b="0">
                <a:solidFill>
                  <a:srgbClr val="1F2933"/>
                </a:solidFill>
                <a:latin typeface="Calibri"/>
              </a:rPr>
              <a:t>1. Riders and drivers need an exact meeting point (gate or entrance), not just a pin</a:t>
            </a:r>
          </a:p>
          <a:p>
            <a:pPr algn="l">
              <a:spcAft>
                <a:spcPts val="800"/>
              </a:spcAft>
            </a:pPr>
            <a:r>
              <a:rPr sz="1600" b="0">
                <a:solidFill>
                  <a:srgbClr val="1F2933"/>
                </a:solidFill>
                <a:latin typeface="Calibri"/>
              </a:rPr>
              <a:t>2. In-app guidance and messaging could replace manual calls and cut delay-driven cancellations</a:t>
            </a:r>
          </a:p>
          <a:p>
            <a:pPr algn="l">
              <a:spcAft>
                <a:spcPts val="800"/>
              </a:spcAft>
            </a:pPr>
            <a:r>
              <a:rPr sz="1600" b="0">
                <a:solidFill>
                  <a:srgbClr val="1F2933"/>
                </a:solidFill>
                <a:latin typeface="Calibri"/>
              </a:rPr>
              <a:t>3. Related but separate: 14 of 24 report extra-money requests; 14 of 24 prefer Rapido or Ola. Tracked, not part of the pickup claim</a:t>
            </a:r>
          </a:p>
        </p:txBody>
      </p:sp>
      <p:sp>
        <p:nvSpPr>
          <p:cNvPr id="7" name="TextBox 6"/>
          <p:cNvSpPr txBox="1"/>
          <p:nvPr/>
        </p:nvSpPr>
        <p:spPr>
          <a:xfrm>
            <a:off x="6583680" y="1371600"/>
            <a:ext cx="5303520" cy="457200"/>
          </a:xfrm>
          <a:prstGeom prst="rect">
            <a:avLst/>
          </a:prstGeom>
          <a:noFill/>
        </p:spPr>
        <p:txBody>
          <a:bodyPr wrap="square" anchor="t" lIns="45720" rIns="45720">
            <a:spAutoFit/>
          </a:bodyPr>
          <a:lstStyle/>
          <a:p>
            <a:pPr algn="l">
              <a:spcAft>
                <a:spcPts val="800"/>
              </a:spcAft>
            </a:pPr>
            <a:r>
              <a:rPr sz="2000" b="1">
                <a:solidFill>
                  <a:srgbClr val="B45309"/>
                </a:solidFill>
                <a:latin typeface="Calibri"/>
              </a:rPr>
              <a:t>Limits and next steps</a:t>
            </a:r>
          </a:p>
        </p:txBody>
      </p:sp>
      <p:sp>
        <p:nvSpPr>
          <p:cNvPr id="8" name="TextBox 7"/>
          <p:cNvSpPr txBox="1"/>
          <p:nvPr/>
        </p:nvSpPr>
        <p:spPr>
          <a:xfrm>
            <a:off x="6583680" y="1920240"/>
            <a:ext cx="5303520" cy="4389120"/>
          </a:xfrm>
          <a:prstGeom prst="rect">
            <a:avLst/>
          </a:prstGeom>
          <a:noFill/>
        </p:spPr>
        <p:txBody>
          <a:bodyPr wrap="square" anchor="t" lIns="45720" rIns="45720">
            <a:spAutoFit/>
          </a:bodyPr>
          <a:lstStyle/>
          <a:p>
            <a:pPr algn="l">
              <a:spcAft>
                <a:spcPts val="800"/>
              </a:spcAft>
            </a:pPr>
            <a:r>
              <a:rPr sz="1600" b="0">
                <a:solidFill>
                  <a:srgbClr val="1F2933"/>
                </a:solidFill>
                <a:latin typeface="Calibri"/>
              </a:rPr>
              <a:t>n=24, convenience sample: descriptive only</a:t>
            </a:r>
          </a:p>
          <a:p>
            <a:pPr algn="l">
              <a:spcAft>
                <a:spcPts val="800"/>
              </a:spcAft>
            </a:pPr>
            <a:r>
              <a:rPr sz="1600" b="0">
                <a:solidFill>
                  <a:srgbClr val="1F2933"/>
                </a:solidFill>
                <a:latin typeface="Calibri"/>
              </a:rPr>
              <a:t>Survey counts are respondents, not rides, so no failure rates</a:t>
            </a:r>
          </a:p>
          <a:p>
            <a:pPr algn="l">
              <a:spcAft>
                <a:spcPts val="800"/>
              </a:spcAft>
            </a:pPr>
            <a:r>
              <a:rPr sz="1600" b="0">
                <a:solidFill>
                  <a:srgbClr val="1F2933"/>
                </a:solidFill>
                <a:latin typeface="Calibri"/>
              </a:rPr>
              <a:t>Market model: key inputs are assumptions</a:t>
            </a:r>
          </a:p>
          <a:p>
            <a:pPr algn="l">
              <a:spcAft>
                <a:spcPts val="800"/>
              </a:spcAft>
            </a:pPr>
            <a:r>
              <a:rPr sz="1600" b="0">
                <a:solidFill>
                  <a:srgbClr val="1F2933"/>
                </a:solidFill>
                <a:latin typeface="Calibri"/>
              </a:rPr>
              <a:t>Next: App Store reviews (India vs international kept separate)</a:t>
            </a:r>
          </a:p>
          <a:p>
            <a:pPr algn="l">
              <a:spcAft>
                <a:spcPts val="800"/>
              </a:spcAft>
            </a:pPr>
            <a:r>
              <a:rPr sz="1600" b="0">
                <a:solidFill>
                  <a:srgbClr val="1F2933"/>
                </a:solidFill>
                <a:latin typeface="Calibri"/>
              </a:rPr>
              <a:t>Next: validate with a larger or targeted sample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2A6F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914400"/>
          </a:xfrm>
          <a:prstGeom prst="rect">
            <a:avLst/>
          </a:prstGeom>
          <a:noFill/>
        </p:spPr>
        <p:txBody>
          <a:bodyPr wrap="square">
            <a:spAutoFit/>
          </a:bodyPr>
          <a:lstStyle/>
          <a:p>
            <a:pPr>
              <a:spcAft>
                <a:spcPts val="600"/>
              </a:spcAft>
            </a:pPr>
            <a:r>
              <a:rPr sz="2800" b="1">
                <a:solidFill>
                  <a:srgbClr val="1F2933"/>
                </a:solidFill>
                <a:latin typeface="Calibri"/>
              </a:rPr>
              <a:t>Reviews stress cancellation; the survey stresses gate and pin issues</a:t>
            </a:r>
          </a:p>
        </p:txBody>
      </p:sp>
      <p:pic>
        <p:nvPicPr>
          <p:cNvPr id="4" name="Picture 3" descr="primary_vs_secondary_themes.png"/>
          <p:cNvPicPr>
            <a:picLocks noChangeAspect="1"/>
          </p:cNvPicPr>
          <p:nvPr/>
        </p:nvPicPr>
        <p:blipFill>
          <a:blip r:embed="rId2"/>
          <a:stretch>
            <a:fillRect/>
          </a:stretch>
        </p:blipFill>
        <p:spPr>
          <a:xfrm>
            <a:off x="365760" y="1400000"/>
            <a:ext cx="6400000" cy="3614118"/>
          </a:xfrm>
          <a:prstGeom prst="rect">
            <a:avLst/>
          </a:prstGeom>
        </p:spPr>
      </p:pic>
      <p:sp>
        <p:nvSpPr>
          <p:cNvPr id="5" name="TextBox 4"/>
          <p:cNvSpPr txBox="1"/>
          <p:nvPr/>
        </p:nvSpPr>
        <p:spPr>
          <a:xfrm>
            <a:off x="7000000" y="1400000"/>
            <a:ext cx="4800000" cy="4800000"/>
          </a:xfrm>
          <a:prstGeom prst="rect">
            <a:avLst/>
          </a:prstGeom>
          <a:noFill/>
        </p:spPr>
        <p:txBody>
          <a:bodyPr wrap="square">
            <a:spAutoFit/>
          </a:bodyPr>
          <a:lstStyle/>
          <a:p>
            <a:pPr>
              <a:spcAft>
                <a:spcPts val="600"/>
              </a:spcAft>
            </a:pPr>
            <a:r>
              <a:rPr sz="1800" b="1">
                <a:solidFill>
                  <a:srgbClr val="2A6F97"/>
                </a:solidFill>
                <a:latin typeface="Calibri"/>
              </a:rPr>
              <a:t>What 33 App Store (India) reviews show</a:t>
            </a:r>
          </a:p>
          <a:p>
            <a:pPr>
              <a:spcAft>
                <a:spcPts val="600"/>
              </a:spcAft>
            </a:pPr>
            <a:r>
              <a:rPr sz="1500" b="0">
                <a:solidFill>
                  <a:srgbClr val="1F2933"/>
                </a:solidFill>
                <a:latin typeface="Calibri"/>
              </a:rPr>
              <a:t>67% mention cancellation; 24% waiting; 27% communication; 27% fare disputes.</a:t>
            </a:r>
          </a:p>
          <a:p>
            <a:pPr>
              <a:spcAft>
                <a:spcPts val="600"/>
              </a:spcAft>
            </a:pPr>
            <a:r>
              <a:rPr sz="1500" b="0">
                <a:solidFill>
                  <a:srgbClr val="1F2933"/>
                </a:solidFill>
                <a:latin typeface="Calibri"/>
              </a:rPr>
              <a:t>Gate confusion and wrong pin appear in only 2 reviews each, versus 54% and 42% in the survey.</a:t>
            </a:r>
          </a:p>
          <a:p>
            <a:pPr>
              <a:spcAft>
                <a:spcPts val="600"/>
              </a:spcAft>
            </a:pPr>
            <a:r>
              <a:rPr sz="1500" b="0">
                <a:solidFill>
                  <a:srgbClr val="1F2933"/>
                </a:solidFill>
                <a:latin typeface="Calibri"/>
              </a:rPr>
              <a:t>Driver cancellation is confirmed as real, but reviews overstate its size: 4 of 24 survey respondents had a driver cancel.</a:t>
            </a:r>
          </a:p>
          <a:p>
            <a:pPr>
              <a:spcAft>
                <a:spcPts val="600"/>
              </a:spcAft>
            </a:pPr>
            <a:r>
              <a:rPr sz="1500" b="0">
                <a:solidFill>
                  <a:srgbClr val="1F2933"/>
                </a:solidFill>
                <a:latin typeface="Calibri"/>
              </a:rPr>
              <a:t>Gaps: fare trust is not in the survey; driver voice is 1 review.</a:t>
            </a:r>
          </a:p>
        </p:txBody>
      </p:sp>
      <p:sp>
        <p:nvSpPr>
          <p:cNvPr id="6" name="TextBox 5"/>
          <p:cNvSpPr txBox="1"/>
          <p:nvPr/>
        </p:nvSpPr>
        <p:spPr>
          <a:xfrm>
            <a:off x="457200" y="6400800"/>
            <a:ext cx="11247120" cy="365760"/>
          </a:xfrm>
          <a:prstGeom prst="rect">
            <a:avLst/>
          </a:prstGeom>
          <a:noFill/>
        </p:spPr>
        <p:txBody>
          <a:bodyPr wrap="square">
            <a:spAutoFit/>
          </a:bodyPr>
          <a:lstStyle/>
          <a:p>
            <a:pPr>
              <a:spcAft>
                <a:spcPts val="600"/>
              </a:spcAft>
            </a:pPr>
            <a:r>
              <a:rPr sz="1000" b="0">
                <a:solidFill>
                  <a:srgbClr val="6B7785"/>
                </a:solidFill>
                <a:latin typeface="Calibri"/>
              </a:rPr>
              <a:t>Source: Apple App Store India reviews, 12 Sep-14 Oct 2026 (n=33, purposive, not representative); survey n=24. Percentages use different denominators. notebooks/Uber_Secondary_Reviews.ipynb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2A6F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914400"/>
          </a:xfrm>
          <a:prstGeom prst="rect">
            <a:avLst/>
          </a:prstGeom>
          <a:noFill/>
        </p:spPr>
        <p:txBody>
          <a:bodyPr wrap="square" anchor="ctr" lIns="45720" rIns="45720">
            <a:spAutoFit/>
          </a:bodyPr>
          <a:lstStyle/>
          <a:p>
            <a:pPr algn="l">
              <a:spcAft>
                <a:spcPts val="800"/>
              </a:spcAft>
            </a:pPr>
            <a:r>
              <a:rPr sz="2800" b="1">
                <a:solidFill>
                  <a:srgbClr val="1F2933"/>
                </a:solidFill>
                <a:latin typeface="Calibri"/>
              </a:rPr>
              <a:t>References and evidence trail</a:t>
            </a:r>
          </a:p>
        </p:txBody>
      </p:sp>
      <p:sp>
        <p:nvSpPr>
          <p:cNvPr id="4" name="TextBox 3"/>
          <p:cNvSpPr txBox="1"/>
          <p:nvPr/>
        </p:nvSpPr>
        <p:spPr>
          <a:xfrm>
            <a:off x="457200" y="6400800"/>
            <a:ext cx="11247120" cy="365760"/>
          </a:xfrm>
          <a:prstGeom prst="rect">
            <a:avLst/>
          </a:prstGeom>
          <a:noFill/>
        </p:spPr>
        <p:txBody>
          <a:bodyPr wrap="square" anchor="t" lIns="45720" rIns="45720">
            <a:spAutoFit/>
          </a:bodyPr>
          <a:lstStyle/>
          <a:p>
            <a:pPr algn="l">
              <a:spcAft>
                <a:spcPts val="800"/>
              </a:spcAft>
            </a:pPr>
            <a:r>
              <a:rPr sz="1000" b="0">
                <a:solidFill>
                  <a:srgbClr val="6B7785"/>
                </a:solidFill>
                <a:latin typeface="Calibri"/>
              </a:rPr>
              <a:t>Source: All paths are relative to the project root</a:t>
            </a:r>
          </a:p>
        </p:txBody>
      </p:sp>
      <p:sp>
        <p:nvSpPr>
          <p:cNvPr id="5" name="TextBox 4"/>
          <p:cNvSpPr txBox="1"/>
          <p:nvPr/>
        </p:nvSpPr>
        <p:spPr>
          <a:xfrm>
            <a:off x="548640" y="1371600"/>
            <a:ext cx="11155680" cy="4937760"/>
          </a:xfrm>
          <a:prstGeom prst="rect">
            <a:avLst/>
          </a:prstGeom>
          <a:noFill/>
        </p:spPr>
        <p:txBody>
          <a:bodyPr wrap="square" anchor="t" lIns="45720" rIns="45720">
            <a:spAutoFit/>
          </a:bodyPr>
          <a:lstStyle/>
          <a:p>
            <a:pPr algn="l">
              <a:spcAft>
                <a:spcPts val="800"/>
              </a:spcAft>
            </a:pPr>
            <a:r>
              <a:rPr sz="1500" b="0">
                <a:solidFill>
                  <a:srgbClr val="1F2933"/>
                </a:solidFill>
                <a:latin typeface="Calibri"/>
              </a:rPr>
              <a:t>•  Primary data: data/raw/Uber Ride &amp; Pickup Experience Survey (Responses).xlsx ("Form Responses 1", 27 rows x 29 columns; raw folder is git-ignored)</a:t>
            </a:r>
          </a:p>
          <a:p>
            <a:pPr algn="l">
              <a:spcAft>
                <a:spcPts val="800"/>
              </a:spcAft>
            </a:pPr>
            <a:r>
              <a:rPr sz="1500" b="0">
                <a:solidFill>
                  <a:srgbClr val="1F2933"/>
                </a:solidFill>
                <a:latin typeface="Calibri"/>
              </a:rPr>
              <a:t>•  Question wording: uber-pickup-survey/create_uber_form.gs (Google Form builder script)</a:t>
            </a:r>
          </a:p>
          <a:p>
            <a:pPr algn="l">
              <a:spcAft>
                <a:spcPts val="800"/>
              </a:spcAft>
            </a:pPr>
            <a:r>
              <a:rPr sz="1500" b="0">
                <a:solidFill>
                  <a:srgbClr val="1F2933"/>
                </a:solidFill>
                <a:latin typeface="Calibri"/>
              </a:rPr>
              <a:t>•  Analysis: notebooks/Uber_Primary_EDA.ipynb; outputs data/clean/Cleaned_Primary_Research.csv, Cleaning_Log.csv, Count_Reconciliation.csv, Data_Dictionary.csv</a:t>
            </a:r>
          </a:p>
          <a:p>
            <a:pPr algn="l">
              <a:spcAft>
                <a:spcPts val="800"/>
              </a:spcAft>
            </a:pPr>
            <a:r>
              <a:rPr sz="1500" b="0">
                <a:solidFill>
                  <a:srgbClr val="1F2933"/>
                </a:solidFill>
                <a:latin typeface="Calibri"/>
              </a:rPr>
              <a:t>•  Charts: charts/*.png (bar charts and heatmaps from the notebook; funnel from scripts/make_funnel_chart.py)</a:t>
            </a:r>
          </a:p>
          <a:p>
            <a:pPr algn="l">
              <a:spcAft>
                <a:spcPts val="800"/>
              </a:spcAft>
            </a:pPr>
            <a:r>
              <a:rPr sz="1500" b="0">
                <a:solidFill>
                  <a:srgbClr val="1F2933"/>
                </a:solidFill>
                <a:latin typeface="Calibri"/>
              </a:rPr>
              <a:t>•  Market model: outputs/Uber_TAM_SAM_SOM.xlsx. Sources: Uber India newsroom "How India Ubered in 2025" (11.6 bn km); Entrackr (Rapido 207M rides, Q2 FY25); Outlook Business (market shares). Retrieved via web-search summaries, not independently verified</a:t>
            </a:r>
          </a:p>
          <a:p>
            <a:pPr algn="l">
              <a:spcAft>
                <a:spcPts val="800"/>
              </a:spcAft>
            </a:pPr>
            <a:r>
              <a:rPr sz="1500" b="0">
                <a:solidFill>
                  <a:srgbClr val="1F2933"/>
                </a:solidFill>
                <a:latin typeface="Calibri"/>
              </a:rPr>
              <a:t>•  Rebuild this deck: python scripts/build_deck.py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