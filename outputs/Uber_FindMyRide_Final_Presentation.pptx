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Uber Find My Ride: The Pickup Coordination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4A3B8"/>
                </a:solidFill>
                <a:latin typeface="Calibri"/>
              </a:rPr>
              <a:t>Research question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CBD5E1"/>
                </a:solidFill>
                <a:latin typeface="Calibri"/>
              </a:rPr>
              <a:t>Why do Uber riders and drivers struggle to find each other at pickup, and which problem should be prioritised for product discovery?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4A3B8"/>
                </a:solidFill>
                <a:latin typeface="Calibri"/>
              </a:rPr>
              <a:t>Core customer job (Jobs to Be Done)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When I have booked a ride from a busy or complex place, I want to meet my driver quickly and with certainty, so I can start my trip on time without stress.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933"/>
                </a:solidFill>
                <a:latin typeface="Calibri"/>
              </a:rPr>
              <a:t>Methodology: two research lenses, five frameworks to turn them into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Source: data/clean/Cleaning_Log.csv; data/clean/Secondary_Reviews_Verified.csv; outputs/Uber_FindMyRide_Frameworks_Appendix.md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21208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Primary survey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27 responses received; 24 valid Uber users after documented exclusions (rows kept and flagged)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Respondent-level multi-select counts; options overlap and are never summed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Convenience 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21208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Secondary app-store reviews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33 Apple App Store (India) reviews; verified dates 12 Sep 2026 to 14 Oct 2026 (33 days), NOT the full six months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Apple feed only; Google Play and Reddit not accessible; no per-review URL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1 driver and 32 rider reviews; self-selected, skewed to 1-star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Frameworks used (framework scores are analytical judgements, not measured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210312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617720"/>
            <a:ext cx="196596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Jobs to Be Done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Defines the need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Slides 1,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572000"/>
            <a:ext cx="210312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4617720"/>
            <a:ext cx="196596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Journey map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Locates friction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Slides 3-5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572000"/>
            <a:ext cx="210312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4617720"/>
            <a:ext cx="196596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Weighted matrix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Ranks hypotheses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Slide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572000"/>
            <a:ext cx="210312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4617720"/>
            <a:ext cx="196596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Build-Measure-Learn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Structures the test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Slide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4572000"/>
            <a:ext cx="210312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4617720"/>
            <a:ext cx="196596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Metric tree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Links to outcomes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Slides 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933"/>
                </a:solidFill>
                <a:latin typeface="Calibri"/>
              </a:rPr>
              <a:t>Primary survey: friction starts at "interpreting the pickup point" (n=24)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Source: Uber Ride &amp; Pickup Experience Survey, n=24 valid Uber users (convenience sample), Q6, Q7, Q10 (multi-select except Q10; counts overlap). Stage mapping is analyst judgement</a:t>
            </a:r>
          </a:p>
        </p:txBody>
      </p:sp>
      <p:pic>
        <p:nvPicPr>
          <p:cNvPr id="5" name="Picture 4" descr="q6_difficul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93901"/>
            <a:ext cx="6035040" cy="46017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8016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6F97"/>
                </a:solidFill>
                <a:latin typeface="Calibri"/>
              </a:rPr>
              <a:t>Customer journey: respondents reporting each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21208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1 Driver assigned: not measured in survey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2 Pickup interpretation: gate/entrance confusion 13; wrong pin 10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3 Driver approaches: long waiting 11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4 Coordination: driver called for directions 11; unclear communication 8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5 Meeting: driver could not find location 9; asked to walk 8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6 Outcome: cancelled 10 (rider 6, driver 4); met after delay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933"/>
                </a:solidFill>
                <a:latin typeface="Calibri"/>
              </a:rPr>
              <a:t>Secondary reviews: cancellation dominates and the friction clusters late (n=33)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Source: Apple App Store India reviews, 12 Sep 2026 to 14 Oct 2026, n=33 (purposive, not representative); themes and stages multi-coded</a:t>
            </a:r>
          </a:p>
        </p:txBody>
      </p:sp>
      <p:pic>
        <p:nvPicPr>
          <p:cNvPr id="5" name="Picture 4" descr="secondary_theme_frequ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59686"/>
            <a:ext cx="6035040" cy="3470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8016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6F97"/>
                </a:solidFill>
                <a:latin typeface="Calibri"/>
              </a:rPr>
              <a:t>Journey stages touched by reviews (of 33; overlap)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521208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1 Driver assigned: 2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2 Pickup interpretation: 4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3 Driver approaches: 15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4 Coordination: 14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5 Meeting: 9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6 Outcome: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434840"/>
            <a:ext cx="52120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Fare trust 9/33 kept separate from pickup evidence (5 also mention cancellation)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Gate 2 and pin 2: few; 1 driver review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933"/>
                </a:solidFill>
                <a:latin typeface="Calibri"/>
              </a:rPr>
              <a:t>Triangulation: convergence on waiting and communication, different emphasis 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Source: outputs/Triangulation_Matrix.csv; Uber Ride &amp; Pickup Experience Survey, n=24 valid Uber users (convenience sample); Apple App Store India reviews, 12 Sep 2026 to 14 Oct 2026, n=33 (purposive, not representative). Percentages use different denominators and are not directly comparable</a:t>
            </a:r>
          </a:p>
        </p:txBody>
      </p:sp>
      <p:pic>
        <p:nvPicPr>
          <p:cNvPr id="5" name="Picture 4" descr="primary_vs_secondary_the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38481"/>
            <a:ext cx="6766560" cy="38211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463040"/>
            <a:ext cx="48463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Converge: waiting and communication appear in both lenses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Differ: the survey shows friction at stage 2 (interpreting the pickup point); reviews show late stages (approach, outcome)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Why: question wording, review self-selection, geography, collection period, coding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Cannot conclude: prevalence, representativeness, or that gate/pin confusion causes cancellation (0 of 22 cancellation reviews carry a gate or pin code)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933"/>
                </a:solidFill>
                <a:latin typeface="Calibri"/>
              </a:rPr>
              <a:t>Prioritised opportunity: H1 ranks first on a transparent weighted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Market model: illustrative scenario based on published inputs and unvalidated assumptions, not a market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Source: outputs/Uber_FindMyRide_Problem_Prioritization.csv; outputs/Uber_FindMyRide_Frameworks_Appendix.md; outputs/Uber_TAM_SAM_SOM.xlsx. Scores are analytical judgements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6766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731520"/>
                <a:gridCol w="2011680"/>
              </a:tblGrid>
              <a:tr h="57150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Score (1-3)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Role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H1 Meeting-point ambiguity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Initial priority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H2 Coordination friction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Related mechanism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H3 Cancellation-related friction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Downstream outcome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Weights: evidence 25%, impact 20%, frequency 15%, scope 15%, intervention 15%, confidence 10%. Each criterion scored 1-3 on a written rubric.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H1 stays first under equal weights, impact-heavy and scope-excluded weightings (lead over H3 narrows to 0.4 when impact is heavily weighted).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H2 and H3 are preserved as research questions: H2 the mechanism, H3 the outcome. Scores are judgements, not data. No feature is preselected.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554480"/>
            <a:ext cx="4297680" cy="4663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600200"/>
            <a:ext cx="40233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B45309"/>
                </a:solidFill>
                <a:latin typeface="Calibri"/>
              </a:rPr>
              <a:t>Illustrative base case (annual pickup events)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TAM ~2,417M | SAM ~406M | SOM ~101.5M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~3.55M potentially improved events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~INR 5.33 crore incremental platform revenue (not profit)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3"/>
                </a:solidFill>
                <a:latin typeface="Calibri"/>
              </a:rPr>
              <a:t>Assumptions: trip length, eligible categories, rollout reach, problem incidence, effectiveness, trip-retention share, average fare, take rate. Survey and review frequencies are NOT used to estimate incidence.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933"/>
                </a:solidFill>
                <a:latin typeface="Calibri"/>
              </a:rPr>
              <a:t>Proposed experiment: Structured Pickup Meeting-Point Guidance (Build-Measure-Learn)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Source: outputs/Uber_FindMyRide_Experiment_Plan.md; outputs/Uber_FindMyRide_Frameworks_Appendix.md. Proposed design; thresholds are proposed decision criteria, not proven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667512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4922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BUILD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Minimum prototype, not a feature commitment. A: current pin and guidance. B: pin + labelled entrance/gate, accessible meeting-point description, confirmation of intended spot. Venues: malls, large residential complexes, multi-entrance or restricted-access sites.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667512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64922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Phase 1, moderated usability: ~8-12 riders, ~5-8 drivers. Same meeting point identified, time to identify, clarification steps, task success, clarity/confidence. Phase 2 field pilot, only if Phase 1 supports it: % eligible pickups completed within a predefined time threshold; also arrival-to-meeting time, calls/messages, extra walking, pickup cancellations.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17720"/>
            <a:ext cx="667512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45152"/>
            <a:ext cx="64922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LEARN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Proposed criterion: at least 20% lower median coordination time with no loss of task success (not proven; no statistical power claimed). Continue if B wins; iterate if mixed; stop if no gain or a guardrail breach. Guardrails: safety, accessibility, driver distraction, privacy, added complexity.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6F97"/>
                </a:solidFill>
                <a:latin typeface="Calibri"/>
              </a:rPr>
              <a:t>Metric tree (hypotheses to test, not established causes)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554480"/>
            <a:ext cx="4389120" cy="77724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572768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Potential business outcomes (not measured)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3"/>
                </a:solidFill>
                <a:latin typeface="Calibri"/>
              </a:rPr>
              <a:t>Retained trips, rider time saved, platform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788920"/>
            <a:ext cx="210312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788920"/>
            <a:ext cx="210312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2807208"/>
            <a:ext cx="2057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6F97"/>
                </a:solidFill>
                <a:latin typeface="Calibri"/>
              </a:rPr>
              <a:t>Fewer pickup cancellations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807208"/>
            <a:ext cx="2057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6F97"/>
                </a:solidFill>
                <a:latin typeface="Calibri"/>
              </a:rPr>
              <a:t>Shorter coordination time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458200" y="2331720"/>
            <a:ext cx="0" cy="45720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744200" y="2331720"/>
            <a:ext cx="0" cy="45720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406640" y="4114800"/>
            <a:ext cx="13716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4133087"/>
            <a:ext cx="1335024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3"/>
                </a:solidFill>
                <a:latin typeface="Calibri"/>
              </a:rPr>
              <a:t>Meeting success (same point agreed)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092440" y="3566160"/>
            <a:ext cx="2651760" cy="54864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915400" y="4114800"/>
            <a:ext cx="13716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3688" y="4133087"/>
            <a:ext cx="1335024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3"/>
                </a:solidFill>
                <a:latin typeface="Calibri"/>
              </a:rPr>
              <a:t>Calls and messages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601200" y="3566160"/>
            <a:ext cx="1143000" cy="54864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424159" y="4114800"/>
            <a:ext cx="13716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42447" y="4133087"/>
            <a:ext cx="1335024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3"/>
                </a:solidFill>
                <a:latin typeface="Calibri"/>
              </a:rPr>
              <a:t>Extra rider walking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10744200" y="3566160"/>
            <a:ext cx="365759" cy="54864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092440" y="3566160"/>
            <a:ext cx="365760" cy="54864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06640" y="5166360"/>
            <a:ext cx="43891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5"/>
                </a:solidFill>
                <a:latin typeface="Calibri"/>
              </a:rPr>
              <a:t>Primary outcome: share of eligible pickups completed within the predefined threshold.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5715000"/>
            <a:ext cx="4389120" cy="54864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5733288"/>
            <a:ext cx="4297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Guardrails: safety, accessibility, driver distraction, privacy,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933"/>
                </a:solidFill>
                <a:latin typeface="Calibri"/>
              </a:rPr>
              <a:t>Recommendation: a decision chain from customer job to investment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Source: Uber Ride &amp; Pickup Experience Survey, n=24 valid Uber users (convenience sample); Apple App Store India reviews, 12 Sep 2026 to 14 Oct 2026, n=33 (purposive, not representative); outputs/Uber_FindMyRide_Frameworks_Appendix.md</a:t>
            </a:r>
          </a:p>
        </p:txBody>
      </p:sp>
      <p:sp>
        <p:nvSpPr>
          <p:cNvPr id="5" name="Pentagon 4"/>
          <p:cNvSpPr/>
          <p:nvPr/>
        </p:nvSpPr>
        <p:spPr>
          <a:xfrm>
            <a:off x="457200" y="1371600"/>
            <a:ext cx="2240280" cy="2468880"/>
          </a:xfrm>
          <a:prstGeom prst="homePlate">
            <a:avLst>
              <a:gd name="adj" fmla="val 12000"/>
            </a:avLst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19659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Customer job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Meet my driver quickly and with certainty from a busy or complex place</a:t>
            </a:r>
          </a:p>
        </p:txBody>
      </p:sp>
      <p:sp>
        <p:nvSpPr>
          <p:cNvPr id="7" name="Pentagon 6"/>
          <p:cNvSpPr/>
          <p:nvPr/>
        </p:nvSpPr>
        <p:spPr>
          <a:xfrm>
            <a:off x="2743200" y="1371600"/>
            <a:ext cx="2240280" cy="2468880"/>
          </a:xfrm>
          <a:prstGeom prst="homePlate">
            <a:avLst>
              <a:gd name="adj" fmla="val 12000"/>
            </a:avLst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417320"/>
            <a:ext cx="19659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Observed friction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Survey (n=24): gate/pin confusion, waiting, calls. Reviews (n=33): cancellation, waiting, communication</a:t>
            </a:r>
          </a:p>
        </p:txBody>
      </p:sp>
      <p:sp>
        <p:nvSpPr>
          <p:cNvPr id="9" name="Pentagon 8"/>
          <p:cNvSpPr/>
          <p:nvPr/>
        </p:nvSpPr>
        <p:spPr>
          <a:xfrm>
            <a:off x="5029200" y="1371600"/>
            <a:ext cx="2240280" cy="2468880"/>
          </a:xfrm>
          <a:prstGeom prst="homePlate">
            <a:avLst>
              <a:gd name="adj" fmla="val 12000"/>
            </a:avLst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1417320"/>
            <a:ext cx="19659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Prioritised hypothesis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H1 meeting-point ambiguity; H2 is the mechanism, H3 the outcome</a:t>
            </a:r>
          </a:p>
        </p:txBody>
      </p:sp>
      <p:sp>
        <p:nvSpPr>
          <p:cNvPr id="11" name="Pentagon 10"/>
          <p:cNvSpPr/>
          <p:nvPr/>
        </p:nvSpPr>
        <p:spPr>
          <a:xfrm>
            <a:off x="7315200" y="1371600"/>
            <a:ext cx="2240280" cy="2468880"/>
          </a:xfrm>
          <a:prstGeom prst="homePlate">
            <a:avLst>
              <a:gd name="adj" fmla="val 12000"/>
            </a:avLst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417320"/>
            <a:ext cx="19659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Validation experiment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Structured meeting-point guidance vs current pin (Build-Measure-Learn)</a:t>
            </a:r>
          </a:p>
        </p:txBody>
      </p:sp>
      <p:sp>
        <p:nvSpPr>
          <p:cNvPr id="13" name="Pentagon 12"/>
          <p:cNvSpPr/>
          <p:nvPr/>
        </p:nvSpPr>
        <p:spPr>
          <a:xfrm>
            <a:off x="9601200" y="1371600"/>
            <a:ext cx="2240280" cy="2468880"/>
          </a:xfrm>
          <a:prstGeom prst="homePlate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4352" y="1417320"/>
            <a:ext cx="19659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Investment decision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Invest only if task success and coordination time improve with no safety or accessibility harm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269748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160520"/>
            <a:ext cx="2560320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What we know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Pickup-location confusion, waiting and communication difficulties are reported in the research (small, self-selected samples).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114800"/>
            <a:ext cx="269748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4160520"/>
            <a:ext cx="2560320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What we hypothesize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Better shared meeting-point information may reduce coordination effort.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114800"/>
            <a:ext cx="269748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60520"/>
            <a:ext cx="2560320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What we will test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Structured meeting-point guidance versus the existing pickup experience.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114800"/>
            <a:ext cx="269748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4160520"/>
            <a:ext cx="2560320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What determines investment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Observed gains in pickup task success and coordination time, without adverse safety or accessibility effects.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933"/>
                </a:solidFill>
                <a:latin typeface="Calibri"/>
              </a:rPr>
              <a:t>References and evidence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Source: All paths relative to the project root (TMS/). Verification status shown per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Independently verified (files and live fetch)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•  Primary: survey export (data/raw, git-ignored); data/clean/Cleaned_Primary_Research.csv, Cleaning_Log.csv; notebooks/Uber_Primary_EDA.ipynb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•  Secondary: data/clean/Secondary_Reviews_Verified.csv (n=33; review IDs, dates 12 Sep 2026 to 14 Oct 2026; Apple India customer-reviews RSS feed itunes.apple.com/in/rss/customerreviews/id=368677368; listing apps.apple.com/in/app/uber-rides-eats-and-more/id368677368). No per-review URL exists. 24 screened IDs unmatched and unused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•  Analysis: notebooks/Uber_Secondary_Reviews.ipynb; outputs/Triangulation_Matrix.csv; outputs/Uber_FindMyRide_Problem_Prioritization.csv (scores = analytical judgements); outputs/Uber_FindMyRide_Frameworks_Appendix.md; Experiment_Plan.md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Not independently verified (web-search summaries; originals not opened)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•  Market model: outputs/Uber_TAM_SAM_SOM.xlsx. Uber India newsroom 11.6 bn km in 2025 (S1); Entrackr Rapido 207M rides Q2 FY25, company claim (S3); Outlook Business market shares, undated (S4). Registry also lists older, un-used context (CCPA 2022, LocalCircles 2018)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Frameworks (published works; definitions in the appendix)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3"/>
                </a:solidFill>
                <a:latin typeface="Calibri"/>
              </a:rPr>
              <a:t>•  Christensen, Hall, Dillon &amp; Duncan, Competing Against Luck (2016); Ulwick, Jobs to Be Done: Theory to Practice (2016); Ries, The Lean Startup (2011); Gibbons, Journey Mapping 101, Nielsen Norman Group (2018)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