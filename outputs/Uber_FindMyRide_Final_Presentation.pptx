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show why riders and drivers struggle to find each other at pickup, and which problem to take into discovery first. I frame it with the job the rider is hiring Uber to do at that moment: meet my driver quickly and with certainty from a busy place. Evidence, priority and experiment all hang off that job.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lenses: a survey with 27 responses, 24 valid Uber users, and 33 App Store reviews from India, collected 12 Sep 2026 to 14 Oct 2026, about five weeks, not six months. Both are small and self-selected, so they show what to test, not how common anything is. I use five light frameworks, each for a reason: jobs to be done to define the need, a journey map to locate the friction, a weighted matrix to make prioritisation explicit, build-measure-learn to keep the experiment small, and a metric tree to tie it to business outcomes.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survey on the customer journey. Friction piles up early, at stage two, where riders interpret the pickup point: gate confusion 13 of 24, wrong pin 10. Then waiting 11, and calls for directions 11. I used a journey map because it shows where the breakdown starts, not just what is reported. The stage mapping is my judgement, and these are respondent counts, not rates. The implication: the earliest place to intervene is shared understanding of where to meet.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Reviews map differently. Of 33, 22 mention cancellation, and the journey view shows them clustering at the outcome stage and during the approach. Waiting and communication appear again, about a quarter each. Fare disputes, 9 reviews, I keep separate, since they are not about finding the rider. Gate and pin appear in only 2 reviews each. Reviews describe how a trip ended, so I treat cancellation as a symptom to measure, not diagnose.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Side by side, waiting and communication appear in both lenses, which gives some confidence they are real. The survey asks where and how pickups get hard, so it surfaces stage two: gates and pins. Reviews capture bad outcomes, so cancellation dominates. Fewer gate and pin mentions in reviews does not contradict the survey: different questions, people and weeks. What I cannot say is how common any of this is, or that gate or pin confusion causes cancellations. Nothing in the reviews links them. Use the survey to choose where to dig, and the reviews to choose what to track.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decide what to prioritise I used a weighted matrix, because it forces me to show my reasoning. Six criteria, weights on the slide, each hypothesis scored one to three. These are my judgements, not measurements. Meeting-point ambiguity scores highest, and stays first under three alternative weightings. Coordination friction is the related mechanism. Cancellation scores high on impact and frequency, but evidence linking it to coordination is weak and many causes sit outside scope, so it is an outcome to measure, not the first bet. On market size, this is an illustrative scenario: about 2.4 billion pickup events at the top, 3.5 million potentially improved, roughly five crore rupees of platform revenue, resting on unvalidated assumptions. Not a forecast, not profit.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experiment follows build, measure, learn, so we spend little before we learn. Build: a clickable prototype of structured meeting-point guidance against today's pin, not a committed feature. Measure: whether both sides agree on the same accessible spot, time to meet, clarification steps. Phase one is moderated testing with about eight to twelve riders and five to eight drivers; a field pilot follows only if it looks promising. The metric tree links meeting success to coordination time, calls and walking, and to cancellations, then to retained trips and rider time. The twenty percent cut in median coordination time is a proposed criterion, not a claim, and I am not claiming statistical power. Safety, accessibility, distraction and privacy are guardrails.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decision chain. The customer job: meet my driver quickly and with certainty. The friction we observed in both sources. The prioritised hypothesis, H1. One experiment. And an investment decision. We know confusion, waiting and communication problems appear in both sources. We hypothesise shared meeting-point information reduces effort. We will test it. Investment follows observed gains in pickup success and coordination time, with no safety or accessibility harm.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supporting research datasets, source records and analysis files. They are available for review.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10698480" cy="1463040"/>
          </a:xfrm>
          <a:prstGeom prst="rect">
            <a:avLst/>
          </a:prstGeom>
          <a:noFill/>
        </p:spPr>
        <p:txBody>
          <a:bodyPr wrap="square" anchor="t" lIns="45720" rIns="45720">
            <a:spAutoFit/>
          </a:bodyPr>
          <a:lstStyle/>
          <a:p>
            <a:pPr algn="l">
              <a:spcAft>
                <a:spcPts val="600"/>
              </a:spcAft>
            </a:pPr>
            <a:r>
              <a:rPr sz="4200" b="1">
                <a:solidFill>
                  <a:srgbClr val="FFFFFF"/>
                </a:solidFill>
                <a:latin typeface="Calibri"/>
              </a:rPr>
              <a:t>Uber Find My Ride: The Pickup Coordination Problem</a:t>
            </a:r>
          </a:p>
        </p:txBody>
      </p:sp>
      <p:sp>
        <p:nvSpPr>
          <p:cNvPr id="4" name="TextBox 3"/>
          <p:cNvSpPr txBox="1"/>
          <p:nvPr/>
        </p:nvSpPr>
        <p:spPr>
          <a:xfrm>
            <a:off x="731520" y="2560320"/>
            <a:ext cx="10698480" cy="1280160"/>
          </a:xfrm>
          <a:prstGeom prst="rect">
            <a:avLst/>
          </a:prstGeom>
          <a:noFill/>
        </p:spPr>
        <p:txBody>
          <a:bodyPr wrap="square" anchor="t" lIns="45720" rIns="45720">
            <a:spAutoFit/>
          </a:bodyPr>
          <a:lstStyle/>
          <a:p>
            <a:pPr algn="l">
              <a:spcAft>
                <a:spcPts val="600"/>
              </a:spcAft>
            </a:pPr>
            <a:r>
              <a:rPr sz="2100" b="1">
                <a:solidFill>
                  <a:srgbClr val="94A3B8"/>
                </a:solidFill>
                <a:latin typeface="Calibri"/>
              </a:rPr>
              <a:t>Research question</a:t>
            </a:r>
          </a:p>
          <a:p>
            <a:pPr algn="l">
              <a:spcAft>
                <a:spcPts val="600"/>
              </a:spcAft>
            </a:pPr>
            <a:r>
              <a:rPr sz="2100" b="0">
                <a:solidFill>
                  <a:srgbClr val="CBD5E1"/>
                </a:solidFill>
                <a:latin typeface="Calibri"/>
              </a:rPr>
              <a:t>Why do Uber riders and drivers struggle to find each other at pickup, and which problem should be prioritised for product discovery?</a:t>
            </a:r>
          </a:p>
        </p:txBody>
      </p:sp>
      <p:sp>
        <p:nvSpPr>
          <p:cNvPr id="5" name="TextBox 4"/>
          <p:cNvSpPr txBox="1"/>
          <p:nvPr/>
        </p:nvSpPr>
        <p:spPr>
          <a:xfrm>
            <a:off x="731520" y="4114800"/>
            <a:ext cx="10698480" cy="1280160"/>
          </a:xfrm>
          <a:prstGeom prst="rect">
            <a:avLst/>
          </a:prstGeom>
          <a:noFill/>
        </p:spPr>
        <p:txBody>
          <a:bodyPr wrap="square" anchor="t" lIns="45720" rIns="45720">
            <a:spAutoFit/>
          </a:bodyPr>
          <a:lstStyle/>
          <a:p>
            <a:pPr algn="l">
              <a:spcAft>
                <a:spcPts val="600"/>
              </a:spcAft>
            </a:pPr>
            <a:r>
              <a:rPr sz="2100" b="1">
                <a:solidFill>
                  <a:srgbClr val="94A3B8"/>
                </a:solidFill>
                <a:latin typeface="Calibri"/>
              </a:rPr>
              <a:t>Core customer job (Jobs to Be Done)</a:t>
            </a:r>
          </a:p>
          <a:p>
            <a:pPr algn="l">
              <a:spcAft>
                <a:spcPts val="600"/>
              </a:spcAft>
            </a:pPr>
            <a:r>
              <a:rPr sz="2100" b="0">
                <a:solidFill>
                  <a:srgbClr val="FFFFFF"/>
                </a:solidFill>
                <a:latin typeface="Calibri"/>
              </a:rPr>
              <a:t>When I have booked a ride from a busy or complex place, I want to meet my driver quickly and with certainty, so I can start my trip on time without stress.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868680"/>
          </a:xfrm>
          <a:prstGeom prst="rect">
            <a:avLst/>
          </a:prstGeom>
          <a:noFill/>
        </p:spPr>
        <p:txBody>
          <a:bodyPr wrap="square" anchor="ctr" lIns="45720" rIns="45720">
            <a:spAutoFit/>
          </a:bodyPr>
          <a:lstStyle/>
          <a:p>
            <a:pPr algn="l">
              <a:spcAft>
                <a:spcPts val="600"/>
              </a:spcAft>
            </a:pPr>
            <a:r>
              <a:rPr sz="2600" b="1">
                <a:solidFill>
                  <a:srgbClr val="1F2933"/>
                </a:solidFill>
                <a:latin typeface="Calibri"/>
              </a:rPr>
              <a:t>Methodology: two research lenses, five frameworks to turn them into a decision</a:t>
            </a:r>
          </a:p>
        </p:txBody>
      </p:sp>
      <p:sp>
        <p:nvSpPr>
          <p:cNvPr id="4" name="TextBox 3"/>
          <p:cNvSpPr txBox="1"/>
          <p:nvPr/>
        </p:nvSpPr>
        <p:spPr>
          <a:xfrm>
            <a:off x="457200" y="6400800"/>
            <a:ext cx="11247120" cy="365760"/>
          </a:xfrm>
          <a:prstGeom prst="rect">
            <a:avLst/>
          </a:prstGeom>
          <a:noFill/>
        </p:spPr>
        <p:txBody>
          <a:bodyPr wrap="square" anchor="t" lIns="45720" rIns="45720">
            <a:spAutoFit/>
          </a:bodyPr>
          <a:lstStyle/>
          <a:p>
            <a:pPr algn="l">
              <a:spcAft>
                <a:spcPts val="600"/>
              </a:spcAft>
            </a:pPr>
            <a:r>
              <a:rPr sz="1000" b="0">
                <a:solidFill>
                  <a:srgbClr val="6B7785"/>
                </a:solidFill>
                <a:latin typeface="Calibri"/>
              </a:rPr>
              <a:t>Source: data/clean/Cleaning_Log.csv; data/clean/Secondary_Reviews_Verified.csv; outputs/Uber_FindMyRide_Frameworks_Appendix.md</a:t>
            </a:r>
          </a:p>
        </p:txBody>
      </p:sp>
      <p:sp>
        <p:nvSpPr>
          <p:cNvPr id="5" name="Rectangle 4"/>
          <p:cNvSpPr/>
          <p:nvPr/>
        </p:nvSpPr>
        <p:spPr>
          <a:xfrm>
            <a:off x="457200" y="1280160"/>
            <a:ext cx="5486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325880"/>
            <a:ext cx="5212080" cy="2651760"/>
          </a:xfrm>
          <a:prstGeom prst="rect">
            <a:avLst/>
          </a:prstGeom>
          <a:noFill/>
        </p:spPr>
        <p:txBody>
          <a:bodyPr wrap="square" anchor="t" lIns="45720" rIns="45720">
            <a:spAutoFit/>
          </a:bodyPr>
          <a:lstStyle/>
          <a:p>
            <a:pPr algn="l">
              <a:spcAft>
                <a:spcPts val="500"/>
              </a:spcAft>
            </a:pPr>
            <a:r>
              <a:rPr sz="1400" b="1">
                <a:solidFill>
                  <a:srgbClr val="2A6F97"/>
                </a:solidFill>
                <a:latin typeface="Calibri"/>
              </a:rPr>
              <a:t>Primary survey</a:t>
            </a:r>
          </a:p>
          <a:p>
            <a:pPr algn="l">
              <a:spcAft>
                <a:spcPts val="500"/>
              </a:spcAft>
            </a:pPr>
            <a:r>
              <a:rPr sz="1400" b="0">
                <a:solidFill>
                  <a:srgbClr val="1F2933"/>
                </a:solidFill>
                <a:latin typeface="Calibri"/>
              </a:rPr>
              <a:t>27 responses received; 24 valid Uber users after documented exclusions (rows kept and flagged)</a:t>
            </a:r>
          </a:p>
          <a:p>
            <a:pPr algn="l">
              <a:spcAft>
                <a:spcPts val="500"/>
              </a:spcAft>
            </a:pPr>
            <a:r>
              <a:rPr sz="1400" b="0">
                <a:solidFill>
                  <a:srgbClr val="1F2933"/>
                </a:solidFill>
                <a:latin typeface="Calibri"/>
              </a:rPr>
              <a:t>Respondent-level multi-select counts; options overlap and are never summed</a:t>
            </a:r>
          </a:p>
          <a:p>
            <a:pPr algn="l">
              <a:spcAft>
                <a:spcPts val="500"/>
              </a:spcAft>
            </a:pPr>
            <a:r>
              <a:rPr sz="1400" b="0">
                <a:solidFill>
                  <a:srgbClr val="1F2933"/>
                </a:solidFill>
                <a:latin typeface="Calibri"/>
              </a:rPr>
              <a:t>Convenience sample</a:t>
            </a:r>
          </a:p>
        </p:txBody>
      </p:sp>
      <p:sp>
        <p:nvSpPr>
          <p:cNvPr id="7" name="Rectangle 6"/>
          <p:cNvSpPr/>
          <p:nvPr/>
        </p:nvSpPr>
        <p:spPr>
          <a:xfrm>
            <a:off x="6217920" y="1280160"/>
            <a:ext cx="5486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325880"/>
            <a:ext cx="5212080" cy="2651760"/>
          </a:xfrm>
          <a:prstGeom prst="rect">
            <a:avLst/>
          </a:prstGeom>
          <a:noFill/>
        </p:spPr>
        <p:txBody>
          <a:bodyPr wrap="square" anchor="t" lIns="45720" rIns="45720">
            <a:spAutoFit/>
          </a:bodyPr>
          <a:lstStyle/>
          <a:p>
            <a:pPr algn="l">
              <a:spcAft>
                <a:spcPts val="500"/>
              </a:spcAft>
            </a:pPr>
            <a:r>
              <a:rPr sz="1400" b="1">
                <a:solidFill>
                  <a:srgbClr val="B45309"/>
                </a:solidFill>
                <a:latin typeface="Calibri"/>
              </a:rPr>
              <a:t>Secondary app-store reviews</a:t>
            </a:r>
          </a:p>
          <a:p>
            <a:pPr algn="l">
              <a:spcAft>
                <a:spcPts val="500"/>
              </a:spcAft>
            </a:pPr>
            <a:r>
              <a:rPr sz="1400" b="0">
                <a:solidFill>
                  <a:srgbClr val="1F2933"/>
                </a:solidFill>
                <a:latin typeface="Calibri"/>
              </a:rPr>
              <a:t>33 Apple App Store (India) reviews; verified dates 12 Sep 2026 to 14 Oct 2026 (33 days), NOT the full six months</a:t>
            </a:r>
          </a:p>
          <a:p>
            <a:pPr algn="l">
              <a:spcAft>
                <a:spcPts val="500"/>
              </a:spcAft>
            </a:pPr>
            <a:r>
              <a:rPr sz="1400" b="0">
                <a:solidFill>
                  <a:srgbClr val="1F2933"/>
                </a:solidFill>
                <a:latin typeface="Calibri"/>
              </a:rPr>
              <a:t>Apple feed only; Google Play and Reddit not accessible; no per-review URL</a:t>
            </a:r>
          </a:p>
          <a:p>
            <a:pPr algn="l">
              <a:spcAft>
                <a:spcPts val="500"/>
              </a:spcAft>
            </a:pPr>
            <a:r>
              <a:rPr sz="1400" b="0">
                <a:solidFill>
                  <a:srgbClr val="1F2933"/>
                </a:solidFill>
                <a:latin typeface="Calibri"/>
              </a:rPr>
              <a:t>1 driver and 32 rider reviews; self-selected, skewed to 1-star</a:t>
            </a:r>
          </a:p>
        </p:txBody>
      </p:sp>
      <p:sp>
        <p:nvSpPr>
          <p:cNvPr id="9" name="TextBox 8"/>
          <p:cNvSpPr txBox="1"/>
          <p:nvPr/>
        </p:nvSpPr>
        <p:spPr>
          <a:xfrm>
            <a:off x="457200" y="4160520"/>
            <a:ext cx="11247120" cy="365760"/>
          </a:xfrm>
          <a:prstGeom prst="rect">
            <a:avLst/>
          </a:prstGeom>
          <a:noFill/>
        </p:spPr>
        <p:txBody>
          <a:bodyPr wrap="square" anchor="t" lIns="45720" rIns="45720">
            <a:spAutoFit/>
          </a:bodyPr>
          <a:lstStyle/>
          <a:p>
            <a:pPr algn="l">
              <a:spcAft>
                <a:spcPts val="600"/>
              </a:spcAft>
            </a:pPr>
            <a:r>
              <a:rPr sz="1400" b="1">
                <a:solidFill>
                  <a:srgbClr val="2A6F97"/>
                </a:solidFill>
                <a:latin typeface="Calibri"/>
              </a:rPr>
              <a:t>Frameworks used (framework scores are analytical judgements, not measured data)</a:t>
            </a:r>
          </a:p>
        </p:txBody>
      </p:sp>
      <p:sp>
        <p:nvSpPr>
          <p:cNvPr id="10" name="Rectangle 9"/>
          <p:cNvSpPr/>
          <p:nvPr/>
        </p:nvSpPr>
        <p:spPr>
          <a:xfrm>
            <a:off x="457200" y="4572000"/>
            <a:ext cx="2103120" cy="16459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4617720"/>
            <a:ext cx="1965960" cy="1554480"/>
          </a:xfrm>
          <a:prstGeom prst="rect">
            <a:avLst/>
          </a:prstGeom>
          <a:noFill/>
        </p:spPr>
        <p:txBody>
          <a:bodyPr wrap="square" anchor="t" lIns="45720" rIns="45720">
            <a:spAutoFit/>
          </a:bodyPr>
          <a:lstStyle/>
          <a:p>
            <a:pPr algn="l">
              <a:spcAft>
                <a:spcPts val="300"/>
              </a:spcAft>
            </a:pPr>
            <a:r>
              <a:rPr sz="1400" b="1">
                <a:solidFill>
                  <a:srgbClr val="2A6F97"/>
                </a:solidFill>
                <a:latin typeface="Calibri"/>
              </a:rPr>
              <a:t>Jobs to Be Done</a:t>
            </a:r>
          </a:p>
          <a:p>
            <a:pPr algn="l">
              <a:spcAft>
                <a:spcPts val="300"/>
              </a:spcAft>
            </a:pPr>
            <a:r>
              <a:rPr sz="1400" b="0">
                <a:solidFill>
                  <a:srgbClr val="1F2933"/>
                </a:solidFill>
                <a:latin typeface="Calibri"/>
              </a:rPr>
              <a:t>Defines the need</a:t>
            </a:r>
          </a:p>
          <a:p>
            <a:pPr algn="l">
              <a:spcAft>
                <a:spcPts val="300"/>
              </a:spcAft>
            </a:pPr>
            <a:r>
              <a:rPr sz="1400" b="0">
                <a:solidFill>
                  <a:srgbClr val="1F2933"/>
                </a:solidFill>
                <a:latin typeface="Calibri"/>
              </a:rPr>
              <a:t>Slides 1, 8</a:t>
            </a:r>
          </a:p>
        </p:txBody>
      </p:sp>
      <p:sp>
        <p:nvSpPr>
          <p:cNvPr id="12" name="Rectangle 11"/>
          <p:cNvSpPr/>
          <p:nvPr/>
        </p:nvSpPr>
        <p:spPr>
          <a:xfrm>
            <a:off x="2743200" y="4572000"/>
            <a:ext cx="2103120" cy="16459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16352" y="4617720"/>
            <a:ext cx="1965960" cy="1554480"/>
          </a:xfrm>
          <a:prstGeom prst="rect">
            <a:avLst/>
          </a:prstGeom>
          <a:noFill/>
        </p:spPr>
        <p:txBody>
          <a:bodyPr wrap="square" anchor="t" lIns="45720" rIns="45720">
            <a:spAutoFit/>
          </a:bodyPr>
          <a:lstStyle/>
          <a:p>
            <a:pPr algn="l">
              <a:spcAft>
                <a:spcPts val="300"/>
              </a:spcAft>
            </a:pPr>
            <a:r>
              <a:rPr sz="1400" b="1">
                <a:solidFill>
                  <a:srgbClr val="2A6F97"/>
                </a:solidFill>
                <a:latin typeface="Calibri"/>
              </a:rPr>
              <a:t>Journey map</a:t>
            </a:r>
          </a:p>
          <a:p>
            <a:pPr algn="l">
              <a:spcAft>
                <a:spcPts val="300"/>
              </a:spcAft>
            </a:pPr>
            <a:r>
              <a:rPr sz="1400" b="0">
                <a:solidFill>
                  <a:srgbClr val="1F2933"/>
                </a:solidFill>
                <a:latin typeface="Calibri"/>
              </a:rPr>
              <a:t>Locates friction</a:t>
            </a:r>
          </a:p>
          <a:p>
            <a:pPr algn="l">
              <a:spcAft>
                <a:spcPts val="300"/>
              </a:spcAft>
            </a:pPr>
            <a:r>
              <a:rPr sz="1400" b="0">
                <a:solidFill>
                  <a:srgbClr val="1F2933"/>
                </a:solidFill>
                <a:latin typeface="Calibri"/>
              </a:rPr>
              <a:t>Slides 3-5</a:t>
            </a:r>
          </a:p>
        </p:txBody>
      </p:sp>
      <p:sp>
        <p:nvSpPr>
          <p:cNvPr id="14" name="Rectangle 13"/>
          <p:cNvSpPr/>
          <p:nvPr/>
        </p:nvSpPr>
        <p:spPr>
          <a:xfrm>
            <a:off x="5029200" y="4572000"/>
            <a:ext cx="2103120" cy="16459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02352" y="4617720"/>
            <a:ext cx="1965960" cy="1554480"/>
          </a:xfrm>
          <a:prstGeom prst="rect">
            <a:avLst/>
          </a:prstGeom>
          <a:noFill/>
        </p:spPr>
        <p:txBody>
          <a:bodyPr wrap="square" anchor="t" lIns="45720" rIns="45720">
            <a:spAutoFit/>
          </a:bodyPr>
          <a:lstStyle/>
          <a:p>
            <a:pPr algn="l">
              <a:spcAft>
                <a:spcPts val="300"/>
              </a:spcAft>
            </a:pPr>
            <a:r>
              <a:rPr sz="1400" b="1">
                <a:solidFill>
                  <a:srgbClr val="2A6F97"/>
                </a:solidFill>
                <a:latin typeface="Calibri"/>
              </a:rPr>
              <a:t>Weighted matrix</a:t>
            </a:r>
          </a:p>
          <a:p>
            <a:pPr algn="l">
              <a:spcAft>
                <a:spcPts val="300"/>
              </a:spcAft>
            </a:pPr>
            <a:r>
              <a:rPr sz="1400" b="0">
                <a:solidFill>
                  <a:srgbClr val="1F2933"/>
                </a:solidFill>
                <a:latin typeface="Calibri"/>
              </a:rPr>
              <a:t>Ranks hypotheses</a:t>
            </a:r>
          </a:p>
          <a:p>
            <a:pPr algn="l">
              <a:spcAft>
                <a:spcPts val="300"/>
              </a:spcAft>
            </a:pPr>
            <a:r>
              <a:rPr sz="1400" b="0">
                <a:solidFill>
                  <a:srgbClr val="1F2933"/>
                </a:solidFill>
                <a:latin typeface="Calibri"/>
              </a:rPr>
              <a:t>Slide 6</a:t>
            </a:r>
          </a:p>
        </p:txBody>
      </p:sp>
      <p:sp>
        <p:nvSpPr>
          <p:cNvPr id="16" name="Rectangle 15"/>
          <p:cNvSpPr/>
          <p:nvPr/>
        </p:nvSpPr>
        <p:spPr>
          <a:xfrm>
            <a:off x="7315200" y="4572000"/>
            <a:ext cx="2103120" cy="16459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88352" y="4617720"/>
            <a:ext cx="1965960" cy="1554480"/>
          </a:xfrm>
          <a:prstGeom prst="rect">
            <a:avLst/>
          </a:prstGeom>
          <a:noFill/>
        </p:spPr>
        <p:txBody>
          <a:bodyPr wrap="square" anchor="t" lIns="45720" rIns="45720">
            <a:spAutoFit/>
          </a:bodyPr>
          <a:lstStyle/>
          <a:p>
            <a:pPr algn="l">
              <a:spcAft>
                <a:spcPts val="300"/>
              </a:spcAft>
            </a:pPr>
            <a:r>
              <a:rPr sz="1400" b="1">
                <a:solidFill>
                  <a:srgbClr val="2A6F97"/>
                </a:solidFill>
                <a:latin typeface="Calibri"/>
              </a:rPr>
              <a:t>Build-Measure-Learn</a:t>
            </a:r>
          </a:p>
          <a:p>
            <a:pPr algn="l">
              <a:spcAft>
                <a:spcPts val="300"/>
              </a:spcAft>
            </a:pPr>
            <a:r>
              <a:rPr sz="1400" b="0">
                <a:solidFill>
                  <a:srgbClr val="1F2933"/>
                </a:solidFill>
                <a:latin typeface="Calibri"/>
              </a:rPr>
              <a:t>Structures the test</a:t>
            </a:r>
          </a:p>
          <a:p>
            <a:pPr algn="l">
              <a:spcAft>
                <a:spcPts val="300"/>
              </a:spcAft>
            </a:pPr>
            <a:r>
              <a:rPr sz="1400" b="0">
                <a:solidFill>
                  <a:srgbClr val="1F2933"/>
                </a:solidFill>
                <a:latin typeface="Calibri"/>
              </a:rPr>
              <a:t>Slide 7</a:t>
            </a:r>
          </a:p>
        </p:txBody>
      </p:sp>
      <p:sp>
        <p:nvSpPr>
          <p:cNvPr id="18" name="Rectangle 17"/>
          <p:cNvSpPr/>
          <p:nvPr/>
        </p:nvSpPr>
        <p:spPr>
          <a:xfrm>
            <a:off x="9601200" y="4572000"/>
            <a:ext cx="2103120" cy="16459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74352" y="4617720"/>
            <a:ext cx="1965960" cy="1554480"/>
          </a:xfrm>
          <a:prstGeom prst="rect">
            <a:avLst/>
          </a:prstGeom>
          <a:noFill/>
        </p:spPr>
        <p:txBody>
          <a:bodyPr wrap="square" anchor="t" lIns="45720" rIns="45720">
            <a:spAutoFit/>
          </a:bodyPr>
          <a:lstStyle/>
          <a:p>
            <a:pPr algn="l">
              <a:spcAft>
                <a:spcPts val="300"/>
              </a:spcAft>
            </a:pPr>
            <a:r>
              <a:rPr sz="1400" b="1">
                <a:solidFill>
                  <a:srgbClr val="2A6F97"/>
                </a:solidFill>
                <a:latin typeface="Calibri"/>
              </a:rPr>
              <a:t>Metric tree</a:t>
            </a:r>
          </a:p>
          <a:p>
            <a:pPr algn="l">
              <a:spcAft>
                <a:spcPts val="300"/>
              </a:spcAft>
            </a:pPr>
            <a:r>
              <a:rPr sz="1400" b="0">
                <a:solidFill>
                  <a:srgbClr val="1F2933"/>
                </a:solidFill>
                <a:latin typeface="Calibri"/>
              </a:rPr>
              <a:t>Links to outcomes</a:t>
            </a:r>
          </a:p>
          <a:p>
            <a:pPr algn="l">
              <a:spcAft>
                <a:spcPts val="300"/>
              </a:spcAft>
            </a:pPr>
            <a:r>
              <a:rPr sz="1400" b="0">
                <a:solidFill>
                  <a:srgbClr val="1F2933"/>
                </a:solidFill>
                <a:latin typeface="Calibri"/>
              </a:rPr>
              <a:t>Slides 7-8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868680"/>
          </a:xfrm>
          <a:prstGeom prst="rect">
            <a:avLst/>
          </a:prstGeom>
          <a:noFill/>
        </p:spPr>
        <p:txBody>
          <a:bodyPr wrap="square" anchor="ctr" lIns="45720" rIns="45720">
            <a:spAutoFit/>
          </a:bodyPr>
          <a:lstStyle/>
          <a:p>
            <a:pPr algn="l">
              <a:spcAft>
                <a:spcPts val="600"/>
              </a:spcAft>
            </a:pPr>
            <a:r>
              <a:rPr sz="2600" b="1">
                <a:solidFill>
                  <a:srgbClr val="1F2933"/>
                </a:solidFill>
                <a:latin typeface="Calibri"/>
              </a:rPr>
              <a:t>Primary survey: friction starts at "interpreting the pickup point" (n=24)</a:t>
            </a:r>
          </a:p>
        </p:txBody>
      </p:sp>
      <p:sp>
        <p:nvSpPr>
          <p:cNvPr id="4" name="TextBox 3"/>
          <p:cNvSpPr txBox="1"/>
          <p:nvPr/>
        </p:nvSpPr>
        <p:spPr>
          <a:xfrm>
            <a:off x="457200" y="6400800"/>
            <a:ext cx="11247120" cy="365760"/>
          </a:xfrm>
          <a:prstGeom prst="rect">
            <a:avLst/>
          </a:prstGeom>
          <a:noFill/>
        </p:spPr>
        <p:txBody>
          <a:bodyPr wrap="square" anchor="t" lIns="45720" rIns="45720">
            <a:spAutoFit/>
          </a:bodyPr>
          <a:lstStyle/>
          <a:p>
            <a:pPr algn="l">
              <a:spcAft>
                <a:spcPts val="600"/>
              </a:spcAft>
            </a:pPr>
            <a:r>
              <a:rPr sz="1000" b="0">
                <a:solidFill>
                  <a:srgbClr val="6B7785"/>
                </a:solidFill>
                <a:latin typeface="Calibri"/>
              </a:rPr>
              <a:t>Source: Uber Ride &amp; Pickup Experience Survey, n=24 valid Uber users (convenience sample), Q6, Q7, Q10 (multi-select except Q10; counts overlap). Stage mapping is analyst judgement</a:t>
            </a:r>
          </a:p>
        </p:txBody>
      </p:sp>
      <p:pic>
        <p:nvPicPr>
          <p:cNvPr id="5" name="Picture 4" descr="q6_difficulties.png"/>
          <p:cNvPicPr>
            <a:picLocks noChangeAspect="1"/>
          </p:cNvPicPr>
          <p:nvPr/>
        </p:nvPicPr>
        <p:blipFill>
          <a:blip r:embed="rId3"/>
          <a:stretch>
            <a:fillRect/>
          </a:stretch>
        </p:blipFill>
        <p:spPr>
          <a:xfrm>
            <a:off x="365760" y="1493901"/>
            <a:ext cx="6035040" cy="4601718"/>
          </a:xfrm>
          <a:prstGeom prst="rect">
            <a:avLst/>
          </a:prstGeom>
        </p:spPr>
      </p:pic>
      <p:sp>
        <p:nvSpPr>
          <p:cNvPr id="6" name="TextBox 5"/>
          <p:cNvSpPr txBox="1"/>
          <p:nvPr/>
        </p:nvSpPr>
        <p:spPr>
          <a:xfrm>
            <a:off x="6583680" y="1280160"/>
            <a:ext cx="5212080" cy="365760"/>
          </a:xfrm>
          <a:prstGeom prst="rect">
            <a:avLst/>
          </a:prstGeom>
          <a:noFill/>
        </p:spPr>
        <p:txBody>
          <a:bodyPr wrap="square" anchor="t" lIns="45720" rIns="45720">
            <a:spAutoFit/>
          </a:bodyPr>
          <a:lstStyle/>
          <a:p>
            <a:pPr algn="l">
              <a:spcAft>
                <a:spcPts val="600"/>
              </a:spcAft>
            </a:pPr>
            <a:r>
              <a:rPr sz="1500" b="1">
                <a:solidFill>
                  <a:srgbClr val="2A6F97"/>
                </a:solidFill>
                <a:latin typeface="Calibri"/>
              </a:rPr>
              <a:t>Customer journey: respondents reporting each friction</a:t>
            </a:r>
          </a:p>
        </p:txBody>
      </p:sp>
      <p:sp>
        <p:nvSpPr>
          <p:cNvPr id="7" name="TextBox 6"/>
          <p:cNvSpPr txBox="1"/>
          <p:nvPr/>
        </p:nvSpPr>
        <p:spPr>
          <a:xfrm>
            <a:off x="6583680" y="1737360"/>
            <a:ext cx="5212080" cy="4480560"/>
          </a:xfrm>
          <a:prstGeom prst="rect">
            <a:avLst/>
          </a:prstGeom>
          <a:noFill/>
        </p:spPr>
        <p:txBody>
          <a:bodyPr wrap="square" anchor="t" lIns="45720" rIns="45720">
            <a:spAutoFit/>
          </a:bodyPr>
          <a:lstStyle/>
          <a:p>
            <a:pPr algn="l">
              <a:spcAft>
                <a:spcPts val="800"/>
              </a:spcAft>
            </a:pPr>
            <a:r>
              <a:rPr sz="1400" b="0">
                <a:solidFill>
                  <a:srgbClr val="1F2933"/>
                </a:solidFill>
                <a:latin typeface="Calibri"/>
              </a:rPr>
              <a:t>1 Driver assigned: not measured in survey</a:t>
            </a:r>
          </a:p>
          <a:p>
            <a:pPr algn="l">
              <a:spcAft>
                <a:spcPts val="800"/>
              </a:spcAft>
            </a:pPr>
            <a:r>
              <a:rPr sz="1400" b="0">
                <a:solidFill>
                  <a:srgbClr val="1F2933"/>
                </a:solidFill>
                <a:latin typeface="Calibri"/>
              </a:rPr>
              <a:t>2 Pickup interpretation: gate/entrance confusion 13; wrong pin 10</a:t>
            </a:r>
          </a:p>
          <a:p>
            <a:pPr algn="l">
              <a:spcAft>
                <a:spcPts val="800"/>
              </a:spcAft>
            </a:pPr>
            <a:r>
              <a:rPr sz="1400" b="0">
                <a:solidFill>
                  <a:srgbClr val="1F2933"/>
                </a:solidFill>
                <a:latin typeface="Calibri"/>
              </a:rPr>
              <a:t>3 Driver approaches: long waiting 11</a:t>
            </a:r>
          </a:p>
          <a:p>
            <a:pPr algn="l">
              <a:spcAft>
                <a:spcPts val="800"/>
              </a:spcAft>
            </a:pPr>
            <a:r>
              <a:rPr sz="1400" b="0">
                <a:solidFill>
                  <a:srgbClr val="1F2933"/>
                </a:solidFill>
                <a:latin typeface="Calibri"/>
              </a:rPr>
              <a:t>4 Coordination: driver called for directions 11; unclear communication 8</a:t>
            </a:r>
          </a:p>
          <a:p>
            <a:pPr algn="l">
              <a:spcAft>
                <a:spcPts val="800"/>
              </a:spcAft>
            </a:pPr>
            <a:r>
              <a:rPr sz="1400" b="0">
                <a:solidFill>
                  <a:srgbClr val="1F2933"/>
                </a:solidFill>
                <a:latin typeface="Calibri"/>
              </a:rPr>
              <a:t>5 Meeting: driver could not find location 9; asked to walk 8</a:t>
            </a:r>
          </a:p>
          <a:p>
            <a:pPr algn="l">
              <a:spcAft>
                <a:spcPts val="800"/>
              </a:spcAft>
            </a:pPr>
            <a:r>
              <a:rPr sz="1400" b="0">
                <a:solidFill>
                  <a:srgbClr val="1F2933"/>
                </a:solidFill>
                <a:latin typeface="Calibri"/>
              </a:rPr>
              <a:t>6 Outcome: cancelled 10 (rider 6, driver 4); met after delay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868680"/>
          </a:xfrm>
          <a:prstGeom prst="rect">
            <a:avLst/>
          </a:prstGeom>
          <a:noFill/>
        </p:spPr>
        <p:txBody>
          <a:bodyPr wrap="square" anchor="ctr" lIns="45720" rIns="45720">
            <a:spAutoFit/>
          </a:bodyPr>
          <a:lstStyle/>
          <a:p>
            <a:pPr algn="l">
              <a:spcAft>
                <a:spcPts val="600"/>
              </a:spcAft>
            </a:pPr>
            <a:r>
              <a:rPr sz="2600" b="1">
                <a:solidFill>
                  <a:srgbClr val="1F2933"/>
                </a:solidFill>
                <a:latin typeface="Calibri"/>
              </a:rPr>
              <a:t>Secondary reviews: cancellation dominates and the friction clusters late (n=33)</a:t>
            </a:r>
          </a:p>
        </p:txBody>
      </p:sp>
      <p:sp>
        <p:nvSpPr>
          <p:cNvPr id="4" name="TextBox 3"/>
          <p:cNvSpPr txBox="1"/>
          <p:nvPr/>
        </p:nvSpPr>
        <p:spPr>
          <a:xfrm>
            <a:off x="457200" y="6400800"/>
            <a:ext cx="11247120" cy="365760"/>
          </a:xfrm>
          <a:prstGeom prst="rect">
            <a:avLst/>
          </a:prstGeom>
          <a:noFill/>
        </p:spPr>
        <p:txBody>
          <a:bodyPr wrap="square" anchor="t" lIns="45720" rIns="45720">
            <a:spAutoFit/>
          </a:bodyPr>
          <a:lstStyle/>
          <a:p>
            <a:pPr algn="l">
              <a:spcAft>
                <a:spcPts val="600"/>
              </a:spcAft>
            </a:pPr>
            <a:r>
              <a:rPr sz="1000" b="0">
                <a:solidFill>
                  <a:srgbClr val="6B7785"/>
                </a:solidFill>
                <a:latin typeface="Calibri"/>
              </a:rPr>
              <a:t>Source: Apple App Store India reviews, 12 Sep 2026 to 14 Oct 2026, n=33 (purposive, not representative); themes and stages multi-coded</a:t>
            </a:r>
          </a:p>
        </p:txBody>
      </p:sp>
      <p:pic>
        <p:nvPicPr>
          <p:cNvPr id="5" name="Picture 4" descr="secondary_theme_frequency.png"/>
          <p:cNvPicPr>
            <a:picLocks noChangeAspect="1"/>
          </p:cNvPicPr>
          <p:nvPr/>
        </p:nvPicPr>
        <p:blipFill>
          <a:blip r:embed="rId3"/>
          <a:stretch>
            <a:fillRect/>
          </a:stretch>
        </p:blipFill>
        <p:spPr>
          <a:xfrm>
            <a:off x="365760" y="2059686"/>
            <a:ext cx="6035040" cy="3470148"/>
          </a:xfrm>
          <a:prstGeom prst="rect">
            <a:avLst/>
          </a:prstGeom>
        </p:spPr>
      </p:pic>
      <p:sp>
        <p:nvSpPr>
          <p:cNvPr id="6" name="TextBox 5"/>
          <p:cNvSpPr txBox="1"/>
          <p:nvPr/>
        </p:nvSpPr>
        <p:spPr>
          <a:xfrm>
            <a:off x="6583680" y="1280160"/>
            <a:ext cx="5212080" cy="365760"/>
          </a:xfrm>
          <a:prstGeom prst="rect">
            <a:avLst/>
          </a:prstGeom>
          <a:noFill/>
        </p:spPr>
        <p:txBody>
          <a:bodyPr wrap="square" anchor="t" lIns="45720" rIns="45720">
            <a:spAutoFit/>
          </a:bodyPr>
          <a:lstStyle/>
          <a:p>
            <a:pPr algn="l">
              <a:spcAft>
                <a:spcPts val="600"/>
              </a:spcAft>
            </a:pPr>
            <a:r>
              <a:rPr sz="1500" b="1">
                <a:solidFill>
                  <a:srgbClr val="2A6F97"/>
                </a:solidFill>
                <a:latin typeface="Calibri"/>
              </a:rPr>
              <a:t>Journey stages touched by reviews (of 33; overlap)</a:t>
            </a:r>
          </a:p>
        </p:txBody>
      </p:sp>
      <p:sp>
        <p:nvSpPr>
          <p:cNvPr id="7" name="TextBox 6"/>
          <p:cNvSpPr txBox="1"/>
          <p:nvPr/>
        </p:nvSpPr>
        <p:spPr>
          <a:xfrm>
            <a:off x="6583680" y="1691640"/>
            <a:ext cx="5212080" cy="2743200"/>
          </a:xfrm>
          <a:prstGeom prst="rect">
            <a:avLst/>
          </a:prstGeom>
          <a:noFill/>
        </p:spPr>
        <p:txBody>
          <a:bodyPr wrap="square" anchor="t" lIns="45720" rIns="45720">
            <a:spAutoFit/>
          </a:bodyPr>
          <a:lstStyle/>
          <a:p>
            <a:pPr algn="l">
              <a:spcAft>
                <a:spcPts val="400"/>
              </a:spcAft>
            </a:pPr>
            <a:r>
              <a:rPr sz="1400" b="0">
                <a:solidFill>
                  <a:srgbClr val="1F2933"/>
                </a:solidFill>
                <a:latin typeface="Calibri"/>
              </a:rPr>
              <a:t>1 Driver assigned: 2</a:t>
            </a:r>
          </a:p>
          <a:p>
            <a:pPr algn="l">
              <a:spcAft>
                <a:spcPts val="400"/>
              </a:spcAft>
            </a:pPr>
            <a:r>
              <a:rPr sz="1400" b="0">
                <a:solidFill>
                  <a:srgbClr val="1F2933"/>
                </a:solidFill>
                <a:latin typeface="Calibri"/>
              </a:rPr>
              <a:t>2 Pickup interpretation: 4</a:t>
            </a:r>
          </a:p>
          <a:p>
            <a:pPr algn="l">
              <a:spcAft>
                <a:spcPts val="400"/>
              </a:spcAft>
            </a:pPr>
            <a:r>
              <a:rPr sz="1400" b="0">
                <a:solidFill>
                  <a:srgbClr val="1F2933"/>
                </a:solidFill>
                <a:latin typeface="Calibri"/>
              </a:rPr>
              <a:t>3 Driver approaches: 15</a:t>
            </a:r>
          </a:p>
          <a:p>
            <a:pPr algn="l">
              <a:spcAft>
                <a:spcPts val="400"/>
              </a:spcAft>
            </a:pPr>
            <a:r>
              <a:rPr sz="1400" b="0">
                <a:solidFill>
                  <a:srgbClr val="1F2933"/>
                </a:solidFill>
                <a:latin typeface="Calibri"/>
              </a:rPr>
              <a:t>4 Coordination: 14</a:t>
            </a:r>
          </a:p>
          <a:p>
            <a:pPr algn="l">
              <a:spcAft>
                <a:spcPts val="400"/>
              </a:spcAft>
            </a:pPr>
            <a:r>
              <a:rPr sz="1400" b="0">
                <a:solidFill>
                  <a:srgbClr val="1F2933"/>
                </a:solidFill>
                <a:latin typeface="Calibri"/>
              </a:rPr>
              <a:t>5 Meeting: 9</a:t>
            </a:r>
          </a:p>
          <a:p>
            <a:pPr algn="l">
              <a:spcAft>
                <a:spcPts val="400"/>
              </a:spcAft>
            </a:pPr>
            <a:r>
              <a:rPr sz="1400" b="0">
                <a:solidFill>
                  <a:srgbClr val="1F2933"/>
                </a:solidFill>
                <a:latin typeface="Calibri"/>
              </a:rPr>
              <a:t>6 Outcome: 20</a:t>
            </a:r>
          </a:p>
        </p:txBody>
      </p:sp>
      <p:sp>
        <p:nvSpPr>
          <p:cNvPr id="8" name="TextBox 7"/>
          <p:cNvSpPr txBox="1"/>
          <p:nvPr/>
        </p:nvSpPr>
        <p:spPr>
          <a:xfrm>
            <a:off x="6583680" y="4434840"/>
            <a:ext cx="5212080" cy="1828800"/>
          </a:xfrm>
          <a:prstGeom prst="rect">
            <a:avLst/>
          </a:prstGeom>
          <a:noFill/>
        </p:spPr>
        <p:txBody>
          <a:bodyPr wrap="square" anchor="t" lIns="45720" rIns="45720">
            <a:spAutoFit/>
          </a:bodyPr>
          <a:lstStyle/>
          <a:p>
            <a:pPr algn="l">
              <a:spcAft>
                <a:spcPts val="600"/>
              </a:spcAft>
            </a:pPr>
            <a:r>
              <a:rPr sz="1400" b="0">
                <a:solidFill>
                  <a:srgbClr val="1F2933"/>
                </a:solidFill>
                <a:latin typeface="Calibri"/>
              </a:rPr>
              <a:t>•  Fare trust 9/33 kept separate from pickup evidence (5 also mention cancellation)</a:t>
            </a:r>
          </a:p>
          <a:p>
            <a:pPr algn="l">
              <a:spcAft>
                <a:spcPts val="600"/>
              </a:spcAft>
            </a:pPr>
            <a:r>
              <a:rPr sz="1400" b="0">
                <a:solidFill>
                  <a:srgbClr val="1F2933"/>
                </a:solidFill>
                <a:latin typeface="Calibri"/>
              </a:rPr>
              <a:t>•  Gate 2 and pin 2: few; 1 driver review only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868680"/>
          </a:xfrm>
          <a:prstGeom prst="rect">
            <a:avLst/>
          </a:prstGeom>
          <a:noFill/>
        </p:spPr>
        <p:txBody>
          <a:bodyPr wrap="square" anchor="ctr" lIns="45720" rIns="45720">
            <a:spAutoFit/>
          </a:bodyPr>
          <a:lstStyle/>
          <a:p>
            <a:pPr algn="l">
              <a:spcAft>
                <a:spcPts val="600"/>
              </a:spcAft>
            </a:pPr>
            <a:r>
              <a:rPr sz="2600" b="1">
                <a:solidFill>
                  <a:srgbClr val="1F2933"/>
                </a:solidFill>
                <a:latin typeface="Calibri"/>
              </a:rPr>
              <a:t>Triangulation: convergence on waiting and communication, different emphasis elsewhere</a:t>
            </a:r>
          </a:p>
        </p:txBody>
      </p:sp>
      <p:sp>
        <p:nvSpPr>
          <p:cNvPr id="4" name="TextBox 3"/>
          <p:cNvSpPr txBox="1"/>
          <p:nvPr/>
        </p:nvSpPr>
        <p:spPr>
          <a:xfrm>
            <a:off x="457200" y="6400800"/>
            <a:ext cx="11247120" cy="365760"/>
          </a:xfrm>
          <a:prstGeom prst="rect">
            <a:avLst/>
          </a:prstGeom>
          <a:noFill/>
        </p:spPr>
        <p:txBody>
          <a:bodyPr wrap="square" anchor="t" lIns="45720" rIns="45720">
            <a:spAutoFit/>
          </a:bodyPr>
          <a:lstStyle/>
          <a:p>
            <a:pPr algn="l">
              <a:spcAft>
                <a:spcPts val="600"/>
              </a:spcAft>
            </a:pPr>
            <a:r>
              <a:rPr sz="1000" b="0">
                <a:solidFill>
                  <a:srgbClr val="6B7785"/>
                </a:solidFill>
                <a:latin typeface="Calibri"/>
              </a:rPr>
              <a:t>Source: outputs/Triangulation_Matrix.csv; Uber Ride &amp; Pickup Experience Survey, n=24 valid Uber users (convenience sample); Apple App Store India reviews, 12 Sep 2026 to 14 Oct 2026, n=33 (purposive, not representative). Percentages use different denominators and are not directly comparable</a:t>
            </a:r>
          </a:p>
        </p:txBody>
      </p:sp>
      <p:pic>
        <p:nvPicPr>
          <p:cNvPr id="5" name="Picture 4" descr="primary_vs_secondary_themes.png"/>
          <p:cNvPicPr>
            <a:picLocks noChangeAspect="1"/>
          </p:cNvPicPr>
          <p:nvPr/>
        </p:nvPicPr>
        <p:blipFill>
          <a:blip r:embed="rId3"/>
          <a:stretch>
            <a:fillRect/>
          </a:stretch>
        </p:blipFill>
        <p:spPr>
          <a:xfrm>
            <a:off x="274320" y="1838481"/>
            <a:ext cx="6766560" cy="3821116"/>
          </a:xfrm>
          <a:prstGeom prst="rect">
            <a:avLst/>
          </a:prstGeom>
        </p:spPr>
      </p:pic>
      <p:sp>
        <p:nvSpPr>
          <p:cNvPr id="6" name="TextBox 5"/>
          <p:cNvSpPr txBox="1"/>
          <p:nvPr/>
        </p:nvSpPr>
        <p:spPr>
          <a:xfrm>
            <a:off x="6949440" y="1463040"/>
            <a:ext cx="4846320" cy="4846320"/>
          </a:xfrm>
          <a:prstGeom prst="rect">
            <a:avLst/>
          </a:prstGeom>
          <a:noFill/>
        </p:spPr>
        <p:txBody>
          <a:bodyPr wrap="square" anchor="t" lIns="45720" rIns="45720">
            <a:spAutoFit/>
          </a:bodyPr>
          <a:lstStyle/>
          <a:p>
            <a:pPr algn="l">
              <a:spcAft>
                <a:spcPts val="600"/>
              </a:spcAft>
            </a:pPr>
            <a:r>
              <a:rPr sz="1500" b="0">
                <a:solidFill>
                  <a:srgbClr val="1F2933"/>
                </a:solidFill>
                <a:latin typeface="Calibri"/>
              </a:rPr>
              <a:t>•  Converge: waiting and communication appear in both lenses</a:t>
            </a:r>
          </a:p>
          <a:p>
            <a:pPr algn="l">
              <a:spcAft>
                <a:spcPts val="600"/>
              </a:spcAft>
            </a:pPr>
            <a:r>
              <a:rPr sz="1500" b="0">
                <a:solidFill>
                  <a:srgbClr val="1F2933"/>
                </a:solidFill>
                <a:latin typeface="Calibri"/>
              </a:rPr>
              <a:t>•  Differ: the survey shows friction at stage 2 (interpreting the pickup point); reviews show late stages (approach, outcome)</a:t>
            </a:r>
          </a:p>
          <a:p>
            <a:pPr algn="l">
              <a:spcAft>
                <a:spcPts val="600"/>
              </a:spcAft>
            </a:pPr>
            <a:r>
              <a:rPr sz="1500" b="0">
                <a:solidFill>
                  <a:srgbClr val="1F2933"/>
                </a:solidFill>
                <a:latin typeface="Calibri"/>
              </a:rPr>
              <a:t>•  Why: question wording, review self-selection, geography, collection period, coding</a:t>
            </a:r>
          </a:p>
          <a:p>
            <a:pPr algn="l">
              <a:spcAft>
                <a:spcPts val="600"/>
              </a:spcAft>
            </a:pPr>
            <a:r>
              <a:rPr sz="1500" b="0">
                <a:solidFill>
                  <a:srgbClr val="1F2933"/>
                </a:solidFill>
                <a:latin typeface="Calibri"/>
              </a:rPr>
              <a:t>•  Cannot conclude: prevalence, representativeness, or that gate/pin confusion causes cancellation (0 of 22 cancellation reviews carry a gate or pin code)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868680"/>
          </a:xfrm>
          <a:prstGeom prst="rect">
            <a:avLst/>
          </a:prstGeom>
          <a:noFill/>
        </p:spPr>
        <p:txBody>
          <a:bodyPr wrap="square" anchor="ctr" lIns="45720" rIns="45720">
            <a:spAutoFit/>
          </a:bodyPr>
          <a:lstStyle/>
          <a:p>
            <a:pPr algn="l">
              <a:spcAft>
                <a:spcPts val="600"/>
              </a:spcAft>
            </a:pPr>
            <a:r>
              <a:rPr sz="2600" b="1">
                <a:solidFill>
                  <a:srgbClr val="1F2933"/>
                </a:solidFill>
                <a:latin typeface="Calibri"/>
              </a:rPr>
              <a:t>Prioritised opportunity: H1 ranks first on a transparent weighted matrix</a:t>
            </a:r>
          </a:p>
        </p:txBody>
      </p:sp>
      <p:sp>
        <p:nvSpPr>
          <p:cNvPr id="4" name="TextBox 3"/>
          <p:cNvSpPr txBox="1"/>
          <p:nvPr/>
        </p:nvSpPr>
        <p:spPr>
          <a:xfrm>
            <a:off x="457200" y="1078992"/>
            <a:ext cx="11247120" cy="365760"/>
          </a:xfrm>
          <a:prstGeom prst="rect">
            <a:avLst/>
          </a:prstGeom>
          <a:noFill/>
        </p:spPr>
        <p:txBody>
          <a:bodyPr wrap="square" anchor="t" lIns="45720" rIns="45720">
            <a:spAutoFit/>
          </a:bodyPr>
          <a:lstStyle/>
          <a:p>
            <a:pPr algn="l">
              <a:spcAft>
                <a:spcPts val="600"/>
              </a:spcAft>
            </a:pPr>
            <a:r>
              <a:rPr sz="1300" b="1">
                <a:solidFill>
                  <a:srgbClr val="B45309"/>
                </a:solidFill>
                <a:latin typeface="Calibri"/>
              </a:rPr>
              <a:t>Market model: illustrative scenario based on published inputs and unvalidated assumptions, not a market forecast.</a:t>
            </a:r>
          </a:p>
        </p:txBody>
      </p:sp>
      <p:sp>
        <p:nvSpPr>
          <p:cNvPr id="5" name="TextBox 4"/>
          <p:cNvSpPr txBox="1"/>
          <p:nvPr/>
        </p:nvSpPr>
        <p:spPr>
          <a:xfrm>
            <a:off x="457200" y="6400800"/>
            <a:ext cx="11247120" cy="365760"/>
          </a:xfrm>
          <a:prstGeom prst="rect">
            <a:avLst/>
          </a:prstGeom>
          <a:noFill/>
        </p:spPr>
        <p:txBody>
          <a:bodyPr wrap="square" anchor="t" lIns="45720" rIns="45720">
            <a:spAutoFit/>
          </a:bodyPr>
          <a:lstStyle/>
          <a:p>
            <a:pPr algn="l">
              <a:spcAft>
                <a:spcPts val="600"/>
              </a:spcAft>
            </a:pPr>
            <a:r>
              <a:rPr sz="1000" b="0">
                <a:solidFill>
                  <a:srgbClr val="6B7785"/>
                </a:solidFill>
                <a:latin typeface="Calibri"/>
              </a:rPr>
              <a:t>Source: outputs/Uber_FindMyRide_Problem_Prioritization.csv; outputs/Uber_FindMyRide_Frameworks_Appendix.md; outputs/Uber_TAM_SAM_SOM.xlsx. Scores are analytical judgements</a:t>
            </a:r>
          </a:p>
        </p:txBody>
      </p:sp>
      <p:graphicFrame>
        <p:nvGraphicFramePr>
          <p:cNvPr id="6" name="Table 5"/>
          <p:cNvGraphicFramePr>
            <a:graphicFrameLocks noGrp="1"/>
          </p:cNvGraphicFramePr>
          <p:nvPr/>
        </p:nvGraphicFramePr>
        <p:xfrm>
          <a:off x="457200" y="1554480"/>
          <a:ext cx="6766560" cy="2286000"/>
        </p:xfrm>
        <a:graphic>
          <a:graphicData uri="http://schemas.openxmlformats.org/drawingml/2006/table">
            <a:tbl>
              <a:tblPr firstRow="1" bandRow="1">
                <a:tableStyleId>{5C22544A-7EE6-4342-B048-85BDC9FD1C3A}</a:tableStyleId>
              </a:tblPr>
              <a:tblGrid>
                <a:gridCol w="2926080"/>
                <a:gridCol w="1097280"/>
                <a:gridCol w="731520"/>
                <a:gridCol w="2011680"/>
              </a:tblGrid>
              <a:tr h="571500">
                <a:tc>
                  <a:txBody>
                    <a:bodyPr/>
                    <a:lstStyle/>
                    <a:p>
                      <a:r>
                        <a:rPr sz="1500">
                          <a:latin typeface="Calibri"/>
                        </a:rPr>
                        <a:t>Hypothesis</a:t>
                      </a:r>
                    </a:p>
                  </a:txBody>
                  <a:tcPr/>
                </a:tc>
                <a:tc>
                  <a:txBody>
                    <a:bodyPr/>
                    <a:lstStyle/>
                    <a:p>
                      <a:r>
                        <a:rPr sz="1500">
                          <a:latin typeface="Calibri"/>
                        </a:rPr>
                        <a:t>Score (1-3)</a:t>
                      </a:r>
                    </a:p>
                  </a:txBody>
                  <a:tcPr/>
                </a:tc>
                <a:tc>
                  <a:txBody>
                    <a:bodyPr/>
                    <a:lstStyle/>
                    <a:p>
                      <a:r>
                        <a:rPr sz="1500">
                          <a:latin typeface="Calibri"/>
                        </a:rPr>
                        <a:t>Rank</a:t>
                      </a:r>
                    </a:p>
                  </a:txBody>
                  <a:tcPr/>
                </a:tc>
                <a:tc>
                  <a:txBody>
                    <a:bodyPr/>
                    <a:lstStyle/>
                    <a:p>
                      <a:r>
                        <a:rPr sz="1500">
                          <a:latin typeface="Calibri"/>
                        </a:rPr>
                        <a:t>Role</a:t>
                      </a:r>
                    </a:p>
                  </a:txBody>
                  <a:tcPr/>
                </a:tc>
              </a:tr>
              <a:tr h="571500">
                <a:tc>
                  <a:txBody>
                    <a:bodyPr/>
                    <a:lstStyle/>
                    <a:p>
                      <a:r>
                        <a:rPr sz="1500">
                          <a:latin typeface="Calibri"/>
                        </a:rPr>
                        <a:t>H1 Meeting-point ambiguity</a:t>
                      </a:r>
                    </a:p>
                  </a:txBody>
                  <a:tcPr/>
                </a:tc>
                <a:tc>
                  <a:txBody>
                    <a:bodyPr/>
                    <a:lstStyle/>
                    <a:p>
                      <a:r>
                        <a:rPr sz="1500">
                          <a:latin typeface="Calibri"/>
                        </a:rPr>
                        <a:t>2.45</a:t>
                      </a:r>
                    </a:p>
                  </a:txBody>
                  <a:tcPr/>
                </a:tc>
                <a:tc>
                  <a:txBody>
                    <a:bodyPr/>
                    <a:lstStyle/>
                    <a:p>
                      <a:r>
                        <a:rPr sz="1500">
                          <a:latin typeface="Calibri"/>
                        </a:rPr>
                        <a:t>1</a:t>
                      </a:r>
                    </a:p>
                  </a:txBody>
                  <a:tcPr/>
                </a:tc>
                <a:tc>
                  <a:txBody>
                    <a:bodyPr/>
                    <a:lstStyle/>
                    <a:p>
                      <a:r>
                        <a:rPr sz="1500">
                          <a:latin typeface="Calibri"/>
                        </a:rPr>
                        <a:t>Initial priority</a:t>
                      </a:r>
                    </a:p>
                  </a:txBody>
                  <a:tcPr/>
                </a:tc>
              </a:tr>
              <a:tr h="571500">
                <a:tc>
                  <a:txBody>
                    <a:bodyPr/>
                    <a:lstStyle/>
                    <a:p>
                      <a:r>
                        <a:rPr sz="1500">
                          <a:latin typeface="Calibri"/>
                        </a:rPr>
                        <a:t>H2 Coordination friction</a:t>
                      </a:r>
                    </a:p>
                  </a:txBody>
                  <a:tcPr/>
                </a:tc>
                <a:tc>
                  <a:txBody>
                    <a:bodyPr/>
                    <a:lstStyle/>
                    <a:p>
                      <a:r>
                        <a:rPr sz="1500">
                          <a:latin typeface="Calibri"/>
                        </a:rPr>
                        <a:t>2.15</a:t>
                      </a:r>
                    </a:p>
                  </a:txBody>
                  <a:tcPr/>
                </a:tc>
                <a:tc>
                  <a:txBody>
                    <a:bodyPr/>
                    <a:lstStyle/>
                    <a:p>
                      <a:r>
                        <a:rPr sz="1500">
                          <a:latin typeface="Calibri"/>
                        </a:rPr>
                        <a:t>2</a:t>
                      </a:r>
                    </a:p>
                  </a:txBody>
                  <a:tcPr/>
                </a:tc>
                <a:tc>
                  <a:txBody>
                    <a:bodyPr/>
                    <a:lstStyle/>
                    <a:p>
                      <a:r>
                        <a:rPr sz="1500">
                          <a:latin typeface="Calibri"/>
                        </a:rPr>
                        <a:t>Related mechanism</a:t>
                      </a:r>
                    </a:p>
                  </a:txBody>
                  <a:tcPr/>
                </a:tc>
              </a:tr>
              <a:tr h="571500">
                <a:tc>
                  <a:txBody>
                    <a:bodyPr/>
                    <a:lstStyle/>
                    <a:p>
                      <a:r>
                        <a:rPr sz="1500">
                          <a:latin typeface="Calibri"/>
                        </a:rPr>
                        <a:t>H3 Cancellation-related friction</a:t>
                      </a:r>
                    </a:p>
                  </a:txBody>
                  <a:tcPr/>
                </a:tc>
                <a:tc>
                  <a:txBody>
                    <a:bodyPr/>
                    <a:lstStyle/>
                    <a:p>
                      <a:r>
                        <a:rPr sz="1500">
                          <a:latin typeface="Calibri"/>
                        </a:rPr>
                        <a:t>1.70</a:t>
                      </a:r>
                    </a:p>
                  </a:txBody>
                  <a:tcPr/>
                </a:tc>
                <a:tc>
                  <a:txBody>
                    <a:bodyPr/>
                    <a:lstStyle/>
                    <a:p>
                      <a:r>
                        <a:rPr sz="1500">
                          <a:latin typeface="Calibri"/>
                        </a:rPr>
                        <a:t>3</a:t>
                      </a:r>
                    </a:p>
                  </a:txBody>
                  <a:tcPr/>
                </a:tc>
                <a:tc>
                  <a:txBody>
                    <a:bodyPr/>
                    <a:lstStyle/>
                    <a:p>
                      <a:r>
                        <a:rPr sz="1500">
                          <a:latin typeface="Calibri"/>
                        </a:rPr>
                        <a:t>Downstream outcome</a:t>
                      </a:r>
                    </a:p>
                  </a:txBody>
                  <a:tcPr/>
                </a:tc>
              </a:tr>
            </a:tbl>
          </a:graphicData>
        </a:graphic>
      </p:graphicFrame>
      <p:sp>
        <p:nvSpPr>
          <p:cNvPr id="7" name="TextBox 6"/>
          <p:cNvSpPr txBox="1"/>
          <p:nvPr/>
        </p:nvSpPr>
        <p:spPr>
          <a:xfrm>
            <a:off x="457200" y="3931920"/>
            <a:ext cx="6766560" cy="2377440"/>
          </a:xfrm>
          <a:prstGeom prst="rect">
            <a:avLst/>
          </a:prstGeom>
          <a:noFill/>
        </p:spPr>
        <p:txBody>
          <a:bodyPr wrap="square" anchor="t" lIns="45720" rIns="45720">
            <a:spAutoFit/>
          </a:bodyPr>
          <a:lstStyle/>
          <a:p>
            <a:pPr algn="l">
              <a:spcAft>
                <a:spcPts val="500"/>
              </a:spcAft>
            </a:pPr>
            <a:r>
              <a:rPr sz="1300" b="0">
                <a:solidFill>
                  <a:srgbClr val="6B7785"/>
                </a:solidFill>
                <a:latin typeface="Calibri"/>
              </a:rPr>
              <a:t>Weights: evidence 25%, impact 20%, frequency 15%, scope 15%, intervention 15%, confidence 10%. Each criterion scored 1-3 on a written rubric.</a:t>
            </a:r>
          </a:p>
          <a:p>
            <a:pPr algn="l">
              <a:spcAft>
                <a:spcPts val="500"/>
              </a:spcAft>
            </a:pPr>
            <a:r>
              <a:rPr sz="1300" b="0">
                <a:solidFill>
                  <a:srgbClr val="6B7785"/>
                </a:solidFill>
                <a:latin typeface="Calibri"/>
              </a:rPr>
              <a:t>H1 stays first under equal weights, impact-heavy and scope-excluded weightings (lead over H3 narrows to 0.4 when impact is heavily weighted).</a:t>
            </a:r>
          </a:p>
          <a:p>
            <a:pPr algn="l">
              <a:spcAft>
                <a:spcPts val="500"/>
              </a:spcAft>
            </a:pPr>
            <a:r>
              <a:rPr sz="1300" b="0">
                <a:solidFill>
                  <a:srgbClr val="6B7785"/>
                </a:solidFill>
                <a:latin typeface="Calibri"/>
              </a:rPr>
              <a:t>H2 and H3 are preserved as research questions: H2 the mechanism, H3 the outcome. Scores are judgements, not data. No feature is preselected.</a:t>
            </a:r>
          </a:p>
        </p:txBody>
      </p:sp>
      <p:sp>
        <p:nvSpPr>
          <p:cNvPr id="8" name="Rectangle 7"/>
          <p:cNvSpPr/>
          <p:nvPr/>
        </p:nvSpPr>
        <p:spPr>
          <a:xfrm>
            <a:off x="7498079" y="1554480"/>
            <a:ext cx="4297680" cy="46634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35240" y="1600200"/>
            <a:ext cx="4023360" cy="4572000"/>
          </a:xfrm>
          <a:prstGeom prst="rect">
            <a:avLst/>
          </a:prstGeom>
          <a:noFill/>
        </p:spPr>
        <p:txBody>
          <a:bodyPr wrap="square" anchor="t" lIns="45720" rIns="45720">
            <a:spAutoFit/>
          </a:bodyPr>
          <a:lstStyle/>
          <a:p>
            <a:pPr algn="l">
              <a:spcAft>
                <a:spcPts val="900"/>
              </a:spcAft>
            </a:pPr>
            <a:r>
              <a:rPr sz="1600" b="1">
                <a:solidFill>
                  <a:srgbClr val="B45309"/>
                </a:solidFill>
                <a:latin typeface="Calibri"/>
              </a:rPr>
              <a:t>Illustrative base case (annual pickup events)</a:t>
            </a:r>
          </a:p>
          <a:p>
            <a:pPr algn="l">
              <a:spcAft>
                <a:spcPts val="900"/>
              </a:spcAft>
            </a:pPr>
            <a:r>
              <a:rPr sz="1600" b="0">
                <a:solidFill>
                  <a:srgbClr val="1F2933"/>
                </a:solidFill>
                <a:latin typeface="Calibri"/>
              </a:rPr>
              <a:t>TAM ~2,417M | SAM ~406M | SOM ~101.5M</a:t>
            </a:r>
          </a:p>
          <a:p>
            <a:pPr algn="l">
              <a:spcAft>
                <a:spcPts val="900"/>
              </a:spcAft>
            </a:pPr>
            <a:r>
              <a:rPr sz="1600" b="0">
                <a:solidFill>
                  <a:srgbClr val="1F2933"/>
                </a:solidFill>
                <a:latin typeface="Calibri"/>
              </a:rPr>
              <a:t>~3.55M potentially improved events</a:t>
            </a:r>
          </a:p>
          <a:p>
            <a:pPr algn="l">
              <a:spcAft>
                <a:spcPts val="900"/>
              </a:spcAft>
            </a:pPr>
            <a:r>
              <a:rPr sz="1600" b="0">
                <a:solidFill>
                  <a:srgbClr val="1F2933"/>
                </a:solidFill>
                <a:latin typeface="Calibri"/>
              </a:rPr>
              <a:t>~INR 5.33 crore incremental platform revenue (not profit)</a:t>
            </a:r>
          </a:p>
          <a:p>
            <a:pPr algn="l">
              <a:spcAft>
                <a:spcPts val="900"/>
              </a:spcAft>
            </a:pPr>
            <a:r>
              <a:rPr sz="1600" b="0">
                <a:solidFill>
                  <a:srgbClr val="1F2933"/>
                </a:solidFill>
                <a:latin typeface="Calibri"/>
              </a:rPr>
              <a:t>Assumptions: trip length, eligible categories, rollout reach, problem incidence, effectiveness, trip-retention share, average fare, take rate. Survey and review frequencies are NOT used to estimate incidence.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868680"/>
          </a:xfrm>
          <a:prstGeom prst="rect">
            <a:avLst/>
          </a:prstGeom>
          <a:noFill/>
        </p:spPr>
        <p:txBody>
          <a:bodyPr wrap="square" anchor="ctr" lIns="45720" rIns="45720">
            <a:spAutoFit/>
          </a:bodyPr>
          <a:lstStyle/>
          <a:p>
            <a:pPr algn="l">
              <a:spcAft>
                <a:spcPts val="600"/>
              </a:spcAft>
            </a:pPr>
            <a:r>
              <a:rPr sz="2600" b="1">
                <a:solidFill>
                  <a:srgbClr val="1F2933"/>
                </a:solidFill>
                <a:latin typeface="Calibri"/>
              </a:rPr>
              <a:t>Proposed experiment: Structured Pickup Meeting-Point Guidance (Build-Measure-Learn)</a:t>
            </a:r>
          </a:p>
        </p:txBody>
      </p:sp>
      <p:sp>
        <p:nvSpPr>
          <p:cNvPr id="4" name="TextBox 3"/>
          <p:cNvSpPr txBox="1"/>
          <p:nvPr/>
        </p:nvSpPr>
        <p:spPr>
          <a:xfrm>
            <a:off x="457200" y="6400800"/>
            <a:ext cx="11247120" cy="365760"/>
          </a:xfrm>
          <a:prstGeom prst="rect">
            <a:avLst/>
          </a:prstGeom>
          <a:noFill/>
        </p:spPr>
        <p:txBody>
          <a:bodyPr wrap="square" anchor="t" lIns="45720" rIns="45720">
            <a:spAutoFit/>
          </a:bodyPr>
          <a:lstStyle/>
          <a:p>
            <a:pPr algn="l">
              <a:spcAft>
                <a:spcPts val="600"/>
              </a:spcAft>
            </a:pPr>
            <a:r>
              <a:rPr sz="1000" b="0">
                <a:solidFill>
                  <a:srgbClr val="6B7785"/>
                </a:solidFill>
                <a:latin typeface="Calibri"/>
              </a:rPr>
              <a:t>Source: outputs/Uber_FindMyRide_Experiment_Plan.md; outputs/Uber_FindMyRide_Frameworks_Appendix.md. Proposed design; thresholds are proposed decision criteria, not proven improvements</a:t>
            </a:r>
          </a:p>
        </p:txBody>
      </p:sp>
      <p:sp>
        <p:nvSpPr>
          <p:cNvPr id="5" name="Rectangle 4"/>
          <p:cNvSpPr/>
          <p:nvPr/>
        </p:nvSpPr>
        <p:spPr>
          <a:xfrm>
            <a:off x="457200" y="1234440"/>
            <a:ext cx="6675120" cy="1600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61872"/>
            <a:ext cx="6492240" cy="1554480"/>
          </a:xfrm>
          <a:prstGeom prst="rect">
            <a:avLst/>
          </a:prstGeom>
          <a:noFill/>
        </p:spPr>
        <p:txBody>
          <a:bodyPr wrap="square" anchor="t" lIns="45720" rIns="45720">
            <a:spAutoFit/>
          </a:bodyPr>
          <a:lstStyle/>
          <a:p>
            <a:pPr algn="l">
              <a:spcAft>
                <a:spcPts val="300"/>
              </a:spcAft>
            </a:pPr>
            <a:r>
              <a:rPr sz="1300" b="1">
                <a:solidFill>
                  <a:srgbClr val="2A6F97"/>
                </a:solidFill>
                <a:latin typeface="Calibri"/>
              </a:rPr>
              <a:t>BUILD</a:t>
            </a:r>
          </a:p>
          <a:p>
            <a:pPr algn="l">
              <a:spcAft>
                <a:spcPts val="300"/>
              </a:spcAft>
            </a:pPr>
            <a:r>
              <a:rPr sz="1300" b="0">
                <a:solidFill>
                  <a:srgbClr val="1F2933"/>
                </a:solidFill>
                <a:latin typeface="Calibri"/>
              </a:rPr>
              <a:t>Minimum prototype, not a feature commitment. A: current pin and guidance. B: pin + labelled entrance/gate, accessible meeting-point description, confirmation of intended spot. Venues: malls, large residential complexes, multi-entrance or restricted-access sites.</a:t>
            </a:r>
          </a:p>
        </p:txBody>
      </p:sp>
      <p:sp>
        <p:nvSpPr>
          <p:cNvPr id="7" name="Rectangle 6"/>
          <p:cNvSpPr/>
          <p:nvPr/>
        </p:nvSpPr>
        <p:spPr>
          <a:xfrm>
            <a:off x="457200" y="2926080"/>
            <a:ext cx="6675120" cy="1600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953512"/>
            <a:ext cx="6492240" cy="1554480"/>
          </a:xfrm>
          <a:prstGeom prst="rect">
            <a:avLst/>
          </a:prstGeom>
          <a:noFill/>
        </p:spPr>
        <p:txBody>
          <a:bodyPr wrap="square" anchor="t" lIns="45720" rIns="45720">
            <a:spAutoFit/>
          </a:bodyPr>
          <a:lstStyle/>
          <a:p>
            <a:pPr algn="l">
              <a:spcAft>
                <a:spcPts val="300"/>
              </a:spcAft>
            </a:pPr>
            <a:r>
              <a:rPr sz="1300" b="1">
                <a:solidFill>
                  <a:srgbClr val="2A6F97"/>
                </a:solidFill>
                <a:latin typeface="Calibri"/>
              </a:rPr>
              <a:t>MEASURE</a:t>
            </a:r>
          </a:p>
          <a:p>
            <a:pPr algn="l">
              <a:spcAft>
                <a:spcPts val="300"/>
              </a:spcAft>
            </a:pPr>
            <a:r>
              <a:rPr sz="1300" b="0">
                <a:solidFill>
                  <a:srgbClr val="1F2933"/>
                </a:solidFill>
                <a:latin typeface="Calibri"/>
              </a:rPr>
              <a:t>Phase 1, moderated usability: ~8-12 riders, ~5-8 drivers. Same meeting point identified, time to identify, clarification steps, task success, clarity/confidence. Phase 2 field pilot, only if Phase 1 supports it: % eligible pickups completed within a predefined time threshold; also arrival-to-meeting time, calls/messages, extra walking, pickup cancellations.</a:t>
            </a:r>
          </a:p>
        </p:txBody>
      </p:sp>
      <p:sp>
        <p:nvSpPr>
          <p:cNvPr id="9" name="Rectangle 8"/>
          <p:cNvSpPr/>
          <p:nvPr/>
        </p:nvSpPr>
        <p:spPr>
          <a:xfrm>
            <a:off x="457200" y="4617720"/>
            <a:ext cx="6675120" cy="1600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645152"/>
            <a:ext cx="6492240" cy="1554480"/>
          </a:xfrm>
          <a:prstGeom prst="rect">
            <a:avLst/>
          </a:prstGeom>
          <a:noFill/>
        </p:spPr>
        <p:txBody>
          <a:bodyPr wrap="square" anchor="t" lIns="45720" rIns="45720">
            <a:spAutoFit/>
          </a:bodyPr>
          <a:lstStyle/>
          <a:p>
            <a:pPr algn="l">
              <a:spcAft>
                <a:spcPts val="300"/>
              </a:spcAft>
            </a:pPr>
            <a:r>
              <a:rPr sz="1300" b="1">
                <a:solidFill>
                  <a:srgbClr val="2A6F97"/>
                </a:solidFill>
                <a:latin typeface="Calibri"/>
              </a:rPr>
              <a:t>LEARN</a:t>
            </a:r>
          </a:p>
          <a:p>
            <a:pPr algn="l">
              <a:spcAft>
                <a:spcPts val="300"/>
              </a:spcAft>
            </a:pPr>
            <a:r>
              <a:rPr sz="1300" b="0">
                <a:solidFill>
                  <a:srgbClr val="1F2933"/>
                </a:solidFill>
                <a:latin typeface="Calibri"/>
              </a:rPr>
              <a:t>Proposed criterion: at least 20% lower median coordination time with no loss of task success (not proven; no statistical power claimed). Continue if B wins; iterate if mixed; stop if no gain or a guardrail breach. Guardrails: safety, accessibility, driver distraction, privacy, added complexity.</a:t>
            </a:r>
          </a:p>
        </p:txBody>
      </p:sp>
      <p:sp>
        <p:nvSpPr>
          <p:cNvPr id="11" name="TextBox 10"/>
          <p:cNvSpPr txBox="1"/>
          <p:nvPr/>
        </p:nvSpPr>
        <p:spPr>
          <a:xfrm>
            <a:off x="7406640" y="1188720"/>
            <a:ext cx="4480560" cy="320040"/>
          </a:xfrm>
          <a:prstGeom prst="rect">
            <a:avLst/>
          </a:prstGeom>
          <a:noFill/>
        </p:spPr>
        <p:txBody>
          <a:bodyPr wrap="square" anchor="t" lIns="45720" rIns="45720">
            <a:spAutoFit/>
          </a:bodyPr>
          <a:lstStyle/>
          <a:p>
            <a:pPr algn="l">
              <a:spcAft>
                <a:spcPts val="600"/>
              </a:spcAft>
            </a:pPr>
            <a:r>
              <a:rPr sz="1200" b="1">
                <a:solidFill>
                  <a:srgbClr val="2A6F97"/>
                </a:solidFill>
                <a:latin typeface="Calibri"/>
              </a:rPr>
              <a:t>Metric tree (hypotheses to test, not established causes)</a:t>
            </a:r>
          </a:p>
        </p:txBody>
      </p:sp>
      <p:sp>
        <p:nvSpPr>
          <p:cNvPr id="12" name="Rectangle 11"/>
          <p:cNvSpPr/>
          <p:nvPr/>
        </p:nvSpPr>
        <p:spPr>
          <a:xfrm>
            <a:off x="7406640" y="1554480"/>
            <a:ext cx="4389120" cy="777240"/>
          </a:xfrm>
          <a:prstGeom prst="rect">
            <a:avLst/>
          </a:prstGeom>
          <a:solidFill>
            <a:srgbClr val="FDE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572768"/>
            <a:ext cx="4297680" cy="731520"/>
          </a:xfrm>
          <a:prstGeom prst="rect">
            <a:avLst/>
          </a:prstGeom>
          <a:noFill/>
        </p:spPr>
        <p:txBody>
          <a:bodyPr wrap="square" anchor="t" lIns="45720" rIns="45720">
            <a:spAutoFit/>
          </a:bodyPr>
          <a:lstStyle/>
          <a:p>
            <a:pPr algn="l">
              <a:spcAft>
                <a:spcPts val="100"/>
              </a:spcAft>
            </a:pPr>
            <a:r>
              <a:rPr sz="1100" b="1">
                <a:solidFill>
                  <a:srgbClr val="B45309"/>
                </a:solidFill>
                <a:latin typeface="Calibri"/>
              </a:rPr>
              <a:t>Potential business outcomes (not measured)</a:t>
            </a:r>
          </a:p>
          <a:p>
            <a:pPr algn="l">
              <a:spcAft>
                <a:spcPts val="100"/>
              </a:spcAft>
            </a:pPr>
            <a:r>
              <a:rPr sz="1100" b="0">
                <a:solidFill>
                  <a:srgbClr val="1F2933"/>
                </a:solidFill>
                <a:latin typeface="Calibri"/>
              </a:rPr>
              <a:t>Retained trips, rider time saved, platform revenue</a:t>
            </a:r>
          </a:p>
        </p:txBody>
      </p:sp>
      <p:sp>
        <p:nvSpPr>
          <p:cNvPr id="14" name="Rectangle 13"/>
          <p:cNvSpPr/>
          <p:nvPr/>
        </p:nvSpPr>
        <p:spPr>
          <a:xfrm>
            <a:off x="7406640" y="2788920"/>
            <a:ext cx="2103120" cy="7772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692640" y="2788920"/>
            <a:ext cx="2103120" cy="7772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24927" y="2807208"/>
            <a:ext cx="2057400" cy="731520"/>
          </a:xfrm>
          <a:prstGeom prst="rect">
            <a:avLst/>
          </a:prstGeom>
          <a:noFill/>
        </p:spPr>
        <p:txBody>
          <a:bodyPr wrap="square" anchor="t" lIns="45720" rIns="45720">
            <a:spAutoFit/>
          </a:bodyPr>
          <a:lstStyle/>
          <a:p>
            <a:pPr algn="l">
              <a:spcAft>
                <a:spcPts val="600"/>
              </a:spcAft>
            </a:pPr>
            <a:r>
              <a:rPr sz="1200" b="1">
                <a:solidFill>
                  <a:srgbClr val="2A6F97"/>
                </a:solidFill>
                <a:latin typeface="Calibri"/>
              </a:rPr>
              <a:t>Fewer pickup cancellations</a:t>
            </a:r>
          </a:p>
        </p:txBody>
      </p:sp>
      <p:sp>
        <p:nvSpPr>
          <p:cNvPr id="17" name="TextBox 16"/>
          <p:cNvSpPr txBox="1"/>
          <p:nvPr/>
        </p:nvSpPr>
        <p:spPr>
          <a:xfrm>
            <a:off x="9710928" y="2807208"/>
            <a:ext cx="2057400" cy="731520"/>
          </a:xfrm>
          <a:prstGeom prst="rect">
            <a:avLst/>
          </a:prstGeom>
          <a:noFill/>
        </p:spPr>
        <p:txBody>
          <a:bodyPr wrap="square" anchor="t" lIns="45720" rIns="45720">
            <a:spAutoFit/>
          </a:bodyPr>
          <a:lstStyle/>
          <a:p>
            <a:pPr algn="l">
              <a:spcAft>
                <a:spcPts val="600"/>
              </a:spcAft>
            </a:pPr>
            <a:r>
              <a:rPr sz="1200" b="1">
                <a:solidFill>
                  <a:srgbClr val="2A6F97"/>
                </a:solidFill>
                <a:latin typeface="Calibri"/>
              </a:rPr>
              <a:t>Shorter coordination time</a:t>
            </a:r>
          </a:p>
        </p:txBody>
      </p:sp>
      <p:cxnSp>
        <p:nvCxnSpPr>
          <p:cNvPr id="18" name="Connector 17"/>
          <p:cNvCxnSpPr/>
          <p:nvPr/>
        </p:nvCxnSpPr>
        <p:spPr>
          <a:xfrm flipV="1">
            <a:off x="8458200" y="2331720"/>
            <a:ext cx="0" cy="457200"/>
          </a:xfrm>
          <a:prstGeom prst="line">
            <a:avLst/>
          </a:prstGeom>
          <a:ln w="19050">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0744200" y="2331720"/>
            <a:ext cx="0" cy="457200"/>
          </a:xfrm>
          <a:prstGeom prst="line">
            <a:avLst/>
          </a:prstGeom>
          <a:ln w="19050">
            <a:solidFill>
              <a:srgbClr val="6B7785"/>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7406640" y="4114800"/>
            <a:ext cx="1371600" cy="9601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24927" y="4133087"/>
            <a:ext cx="1335024" cy="914400"/>
          </a:xfrm>
          <a:prstGeom prst="rect">
            <a:avLst/>
          </a:prstGeom>
          <a:noFill/>
        </p:spPr>
        <p:txBody>
          <a:bodyPr wrap="square" anchor="t" lIns="45720" rIns="45720">
            <a:spAutoFit/>
          </a:bodyPr>
          <a:lstStyle/>
          <a:p>
            <a:pPr algn="l">
              <a:spcAft>
                <a:spcPts val="600"/>
              </a:spcAft>
            </a:pPr>
            <a:r>
              <a:rPr sz="1100" b="0">
                <a:solidFill>
                  <a:srgbClr val="1F2933"/>
                </a:solidFill>
                <a:latin typeface="Calibri"/>
              </a:rPr>
              <a:t>Meeting success (same point agreed)</a:t>
            </a:r>
          </a:p>
        </p:txBody>
      </p:sp>
      <p:cxnSp>
        <p:nvCxnSpPr>
          <p:cNvPr id="22" name="Connector 21"/>
          <p:cNvCxnSpPr/>
          <p:nvPr/>
        </p:nvCxnSpPr>
        <p:spPr>
          <a:xfrm flipV="1">
            <a:off x="8092440" y="3566160"/>
            <a:ext cx="2651760" cy="548640"/>
          </a:xfrm>
          <a:prstGeom prst="line">
            <a:avLst/>
          </a:prstGeom>
          <a:ln w="19050">
            <a:solidFill>
              <a:srgbClr val="6B7785"/>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915400" y="4114800"/>
            <a:ext cx="1371600" cy="9601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33688" y="4133087"/>
            <a:ext cx="1335024" cy="914400"/>
          </a:xfrm>
          <a:prstGeom prst="rect">
            <a:avLst/>
          </a:prstGeom>
          <a:noFill/>
        </p:spPr>
        <p:txBody>
          <a:bodyPr wrap="square" anchor="t" lIns="45720" rIns="45720">
            <a:spAutoFit/>
          </a:bodyPr>
          <a:lstStyle/>
          <a:p>
            <a:pPr algn="l">
              <a:spcAft>
                <a:spcPts val="600"/>
              </a:spcAft>
            </a:pPr>
            <a:r>
              <a:rPr sz="1100" b="0">
                <a:solidFill>
                  <a:srgbClr val="1F2933"/>
                </a:solidFill>
                <a:latin typeface="Calibri"/>
              </a:rPr>
              <a:t>Calls and messages</a:t>
            </a:r>
          </a:p>
        </p:txBody>
      </p:sp>
      <p:cxnSp>
        <p:nvCxnSpPr>
          <p:cNvPr id="25" name="Connector 24"/>
          <p:cNvCxnSpPr/>
          <p:nvPr/>
        </p:nvCxnSpPr>
        <p:spPr>
          <a:xfrm flipV="1">
            <a:off x="9601200" y="3566160"/>
            <a:ext cx="1143000" cy="548640"/>
          </a:xfrm>
          <a:prstGeom prst="line">
            <a:avLst/>
          </a:prstGeom>
          <a:ln w="19050">
            <a:solidFill>
              <a:srgbClr val="6B7785"/>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10424159" y="4114800"/>
            <a:ext cx="1371600" cy="9601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442447" y="4133087"/>
            <a:ext cx="1335024" cy="914400"/>
          </a:xfrm>
          <a:prstGeom prst="rect">
            <a:avLst/>
          </a:prstGeom>
          <a:noFill/>
        </p:spPr>
        <p:txBody>
          <a:bodyPr wrap="square" anchor="t" lIns="45720" rIns="45720">
            <a:spAutoFit/>
          </a:bodyPr>
          <a:lstStyle/>
          <a:p>
            <a:pPr algn="l">
              <a:spcAft>
                <a:spcPts val="600"/>
              </a:spcAft>
            </a:pPr>
            <a:r>
              <a:rPr sz="1100" b="0">
                <a:solidFill>
                  <a:srgbClr val="1F2933"/>
                </a:solidFill>
                <a:latin typeface="Calibri"/>
              </a:rPr>
              <a:t>Extra rider walking</a:t>
            </a:r>
          </a:p>
        </p:txBody>
      </p:sp>
      <p:cxnSp>
        <p:nvCxnSpPr>
          <p:cNvPr id="28" name="Connector 27"/>
          <p:cNvCxnSpPr/>
          <p:nvPr/>
        </p:nvCxnSpPr>
        <p:spPr>
          <a:xfrm flipH="1" flipV="1">
            <a:off x="10744200" y="3566160"/>
            <a:ext cx="365759" cy="548640"/>
          </a:xfrm>
          <a:prstGeom prst="line">
            <a:avLst/>
          </a:prstGeom>
          <a:ln w="19050">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092440" y="3566160"/>
            <a:ext cx="365760" cy="548640"/>
          </a:xfrm>
          <a:prstGeom prst="line">
            <a:avLst/>
          </a:prstGeom>
          <a:ln w="19050">
            <a:solidFill>
              <a:srgbClr val="6B7785"/>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406640" y="5166360"/>
            <a:ext cx="4389120" cy="502920"/>
          </a:xfrm>
          <a:prstGeom prst="rect">
            <a:avLst/>
          </a:prstGeom>
          <a:noFill/>
        </p:spPr>
        <p:txBody>
          <a:bodyPr wrap="square" anchor="t" lIns="45720" rIns="45720">
            <a:spAutoFit/>
          </a:bodyPr>
          <a:lstStyle/>
          <a:p>
            <a:pPr algn="l">
              <a:spcAft>
                <a:spcPts val="600"/>
              </a:spcAft>
            </a:pPr>
            <a:r>
              <a:rPr sz="1100" b="0">
                <a:solidFill>
                  <a:srgbClr val="6B7785"/>
                </a:solidFill>
                <a:latin typeface="Calibri"/>
              </a:rPr>
              <a:t>Primary outcome: share of eligible pickups completed within the predefined threshold.</a:t>
            </a:r>
          </a:p>
        </p:txBody>
      </p:sp>
      <p:sp>
        <p:nvSpPr>
          <p:cNvPr id="31" name="Rectangle 30"/>
          <p:cNvSpPr/>
          <p:nvPr/>
        </p:nvSpPr>
        <p:spPr>
          <a:xfrm>
            <a:off x="7406640" y="5715000"/>
            <a:ext cx="4389120" cy="548640"/>
          </a:xfrm>
          <a:prstGeom prst="rect">
            <a:avLst/>
          </a:prstGeom>
          <a:solidFill>
            <a:srgbClr val="FDE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0" y="5733288"/>
            <a:ext cx="4297680" cy="502920"/>
          </a:xfrm>
          <a:prstGeom prst="rect">
            <a:avLst/>
          </a:prstGeom>
          <a:noFill/>
        </p:spPr>
        <p:txBody>
          <a:bodyPr wrap="square" anchor="t" lIns="45720" rIns="45720">
            <a:spAutoFit/>
          </a:bodyPr>
          <a:lstStyle/>
          <a:p>
            <a:pPr algn="l">
              <a:spcAft>
                <a:spcPts val="600"/>
              </a:spcAft>
            </a:pPr>
            <a:r>
              <a:rPr sz="1100" b="1">
                <a:solidFill>
                  <a:srgbClr val="B45309"/>
                </a:solidFill>
                <a:latin typeface="Calibri"/>
              </a:rPr>
              <a:t>Guardrails: safety, accessibility, driver distraction, privacy, complexity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868680"/>
          </a:xfrm>
          <a:prstGeom prst="rect">
            <a:avLst/>
          </a:prstGeom>
          <a:noFill/>
        </p:spPr>
        <p:txBody>
          <a:bodyPr wrap="square" anchor="ctr" lIns="45720" rIns="45720">
            <a:spAutoFit/>
          </a:bodyPr>
          <a:lstStyle/>
          <a:p>
            <a:pPr algn="l">
              <a:spcAft>
                <a:spcPts val="600"/>
              </a:spcAft>
            </a:pPr>
            <a:r>
              <a:rPr sz="2600" b="1">
                <a:solidFill>
                  <a:srgbClr val="1F2933"/>
                </a:solidFill>
                <a:latin typeface="Calibri"/>
              </a:rPr>
              <a:t>Recommendation: a decision chain from customer job to investment decision</a:t>
            </a:r>
          </a:p>
        </p:txBody>
      </p:sp>
      <p:sp>
        <p:nvSpPr>
          <p:cNvPr id="4" name="TextBox 3"/>
          <p:cNvSpPr txBox="1"/>
          <p:nvPr/>
        </p:nvSpPr>
        <p:spPr>
          <a:xfrm>
            <a:off x="457200" y="6400800"/>
            <a:ext cx="11247120" cy="365760"/>
          </a:xfrm>
          <a:prstGeom prst="rect">
            <a:avLst/>
          </a:prstGeom>
          <a:noFill/>
        </p:spPr>
        <p:txBody>
          <a:bodyPr wrap="square" anchor="t" lIns="45720" rIns="45720">
            <a:spAutoFit/>
          </a:bodyPr>
          <a:lstStyle/>
          <a:p>
            <a:pPr algn="l">
              <a:spcAft>
                <a:spcPts val="600"/>
              </a:spcAft>
            </a:pPr>
            <a:r>
              <a:rPr sz="1000" b="0">
                <a:solidFill>
                  <a:srgbClr val="6B7785"/>
                </a:solidFill>
                <a:latin typeface="Calibri"/>
              </a:rPr>
              <a:t>Source: Uber Ride &amp; Pickup Experience Survey, n=24 valid Uber users (convenience sample); Apple App Store India reviews, 12 Sep 2026 to 14 Oct 2026, n=33 (purposive, not representative); outputs/Uber_FindMyRide_Frameworks_Appendix.md</a:t>
            </a:r>
          </a:p>
        </p:txBody>
      </p:sp>
      <p:sp>
        <p:nvSpPr>
          <p:cNvPr id="5" name="Pentagon 4"/>
          <p:cNvSpPr/>
          <p:nvPr/>
        </p:nvSpPr>
        <p:spPr>
          <a:xfrm>
            <a:off x="457200" y="1371600"/>
            <a:ext cx="2240280" cy="2468880"/>
          </a:xfrm>
          <a:prstGeom prst="homePlate">
            <a:avLst>
              <a:gd name="adj" fmla="val 12000"/>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1417320"/>
            <a:ext cx="1965960" cy="2377440"/>
          </a:xfrm>
          <a:prstGeom prst="rect">
            <a:avLst/>
          </a:prstGeom>
          <a:noFill/>
        </p:spPr>
        <p:txBody>
          <a:bodyPr wrap="square" anchor="t" lIns="45720" rIns="45720">
            <a:spAutoFit/>
          </a:bodyPr>
          <a:lstStyle/>
          <a:p>
            <a:pPr algn="l">
              <a:spcAft>
                <a:spcPts val="400"/>
              </a:spcAft>
            </a:pPr>
            <a:r>
              <a:rPr sz="1400" b="1">
                <a:solidFill>
                  <a:srgbClr val="FFFFFF"/>
                </a:solidFill>
                <a:latin typeface="Calibri"/>
              </a:rPr>
              <a:t>Customer job</a:t>
            </a:r>
          </a:p>
          <a:p>
            <a:pPr algn="l">
              <a:spcAft>
                <a:spcPts val="400"/>
              </a:spcAft>
            </a:pPr>
            <a:r>
              <a:rPr sz="1400" b="0">
                <a:solidFill>
                  <a:srgbClr val="FFFFFF"/>
                </a:solidFill>
                <a:latin typeface="Calibri"/>
              </a:rPr>
              <a:t>Meet my driver quickly and with certainty from a busy or complex place</a:t>
            </a:r>
          </a:p>
        </p:txBody>
      </p:sp>
      <p:sp>
        <p:nvSpPr>
          <p:cNvPr id="7" name="Pentagon 6"/>
          <p:cNvSpPr/>
          <p:nvPr/>
        </p:nvSpPr>
        <p:spPr>
          <a:xfrm>
            <a:off x="2743200" y="1371600"/>
            <a:ext cx="2240280" cy="2468880"/>
          </a:xfrm>
          <a:prstGeom prst="homePlate">
            <a:avLst>
              <a:gd name="adj" fmla="val 12000"/>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16352" y="1417320"/>
            <a:ext cx="1965960" cy="2377440"/>
          </a:xfrm>
          <a:prstGeom prst="rect">
            <a:avLst/>
          </a:prstGeom>
          <a:noFill/>
        </p:spPr>
        <p:txBody>
          <a:bodyPr wrap="square" anchor="t" lIns="45720" rIns="45720">
            <a:spAutoFit/>
          </a:bodyPr>
          <a:lstStyle/>
          <a:p>
            <a:pPr algn="l">
              <a:spcAft>
                <a:spcPts val="400"/>
              </a:spcAft>
            </a:pPr>
            <a:r>
              <a:rPr sz="1400" b="1">
                <a:solidFill>
                  <a:srgbClr val="FFFFFF"/>
                </a:solidFill>
                <a:latin typeface="Calibri"/>
              </a:rPr>
              <a:t>Observed friction</a:t>
            </a:r>
          </a:p>
          <a:p>
            <a:pPr algn="l">
              <a:spcAft>
                <a:spcPts val="400"/>
              </a:spcAft>
            </a:pPr>
            <a:r>
              <a:rPr sz="1400" b="0">
                <a:solidFill>
                  <a:srgbClr val="FFFFFF"/>
                </a:solidFill>
                <a:latin typeface="Calibri"/>
              </a:rPr>
              <a:t>Survey (n=24): gate/pin confusion, waiting, calls. Reviews (n=33): cancellation, waiting, communication</a:t>
            </a:r>
          </a:p>
        </p:txBody>
      </p:sp>
      <p:sp>
        <p:nvSpPr>
          <p:cNvPr id="9" name="Pentagon 8"/>
          <p:cNvSpPr/>
          <p:nvPr/>
        </p:nvSpPr>
        <p:spPr>
          <a:xfrm>
            <a:off x="5029200" y="1371600"/>
            <a:ext cx="2240280" cy="2468880"/>
          </a:xfrm>
          <a:prstGeom prst="homePlate">
            <a:avLst>
              <a:gd name="adj" fmla="val 12000"/>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02352" y="1417320"/>
            <a:ext cx="1965960" cy="2377440"/>
          </a:xfrm>
          <a:prstGeom prst="rect">
            <a:avLst/>
          </a:prstGeom>
          <a:noFill/>
        </p:spPr>
        <p:txBody>
          <a:bodyPr wrap="square" anchor="t" lIns="45720" rIns="45720">
            <a:spAutoFit/>
          </a:bodyPr>
          <a:lstStyle/>
          <a:p>
            <a:pPr algn="l">
              <a:spcAft>
                <a:spcPts val="400"/>
              </a:spcAft>
            </a:pPr>
            <a:r>
              <a:rPr sz="1400" b="1">
                <a:solidFill>
                  <a:srgbClr val="FFFFFF"/>
                </a:solidFill>
                <a:latin typeface="Calibri"/>
              </a:rPr>
              <a:t>Prioritised hypothesis</a:t>
            </a:r>
          </a:p>
          <a:p>
            <a:pPr algn="l">
              <a:spcAft>
                <a:spcPts val="400"/>
              </a:spcAft>
            </a:pPr>
            <a:r>
              <a:rPr sz="1400" b="0">
                <a:solidFill>
                  <a:srgbClr val="FFFFFF"/>
                </a:solidFill>
                <a:latin typeface="Calibri"/>
              </a:rPr>
              <a:t>H1 meeting-point ambiguity; H2 is the mechanism, H3 the outcome</a:t>
            </a:r>
          </a:p>
        </p:txBody>
      </p:sp>
      <p:sp>
        <p:nvSpPr>
          <p:cNvPr id="11" name="Pentagon 10"/>
          <p:cNvSpPr/>
          <p:nvPr/>
        </p:nvSpPr>
        <p:spPr>
          <a:xfrm>
            <a:off x="7315200" y="1371600"/>
            <a:ext cx="2240280" cy="2468880"/>
          </a:xfrm>
          <a:prstGeom prst="homePlate">
            <a:avLst>
              <a:gd name="adj" fmla="val 12000"/>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88352" y="1417320"/>
            <a:ext cx="1965960" cy="2377440"/>
          </a:xfrm>
          <a:prstGeom prst="rect">
            <a:avLst/>
          </a:prstGeom>
          <a:noFill/>
        </p:spPr>
        <p:txBody>
          <a:bodyPr wrap="square" anchor="t" lIns="45720" rIns="45720">
            <a:spAutoFit/>
          </a:bodyPr>
          <a:lstStyle/>
          <a:p>
            <a:pPr algn="l">
              <a:spcAft>
                <a:spcPts val="400"/>
              </a:spcAft>
            </a:pPr>
            <a:r>
              <a:rPr sz="1400" b="1">
                <a:solidFill>
                  <a:srgbClr val="FFFFFF"/>
                </a:solidFill>
                <a:latin typeface="Calibri"/>
              </a:rPr>
              <a:t>Validation experiment</a:t>
            </a:r>
          </a:p>
          <a:p>
            <a:pPr algn="l">
              <a:spcAft>
                <a:spcPts val="400"/>
              </a:spcAft>
            </a:pPr>
            <a:r>
              <a:rPr sz="1400" b="0">
                <a:solidFill>
                  <a:srgbClr val="FFFFFF"/>
                </a:solidFill>
                <a:latin typeface="Calibri"/>
              </a:rPr>
              <a:t>Structured meeting-point guidance vs current pin (Build-Measure-Learn)</a:t>
            </a:r>
          </a:p>
        </p:txBody>
      </p:sp>
      <p:sp>
        <p:nvSpPr>
          <p:cNvPr id="13" name="Pentagon 12"/>
          <p:cNvSpPr/>
          <p:nvPr/>
        </p:nvSpPr>
        <p:spPr>
          <a:xfrm>
            <a:off x="9601200" y="1371600"/>
            <a:ext cx="2240280" cy="2468880"/>
          </a:xfrm>
          <a:prstGeom prst="homePlate">
            <a:avLst>
              <a:gd name="adj" fmla="val 12000"/>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4352" y="1417320"/>
            <a:ext cx="1965960" cy="2377440"/>
          </a:xfrm>
          <a:prstGeom prst="rect">
            <a:avLst/>
          </a:prstGeom>
          <a:noFill/>
        </p:spPr>
        <p:txBody>
          <a:bodyPr wrap="square" anchor="t" lIns="45720" rIns="45720">
            <a:spAutoFit/>
          </a:bodyPr>
          <a:lstStyle/>
          <a:p>
            <a:pPr algn="l">
              <a:spcAft>
                <a:spcPts val="400"/>
              </a:spcAft>
            </a:pPr>
            <a:r>
              <a:rPr sz="1400" b="1">
                <a:solidFill>
                  <a:srgbClr val="FFFFFF"/>
                </a:solidFill>
                <a:latin typeface="Calibri"/>
              </a:rPr>
              <a:t>Investment decision</a:t>
            </a:r>
          </a:p>
          <a:p>
            <a:pPr algn="l">
              <a:spcAft>
                <a:spcPts val="400"/>
              </a:spcAft>
            </a:pPr>
            <a:r>
              <a:rPr sz="1400" b="0">
                <a:solidFill>
                  <a:srgbClr val="FFFFFF"/>
                </a:solidFill>
                <a:latin typeface="Calibri"/>
              </a:rPr>
              <a:t>Invest only if task success and coordination time improve with no safety or accessibility harm</a:t>
            </a:r>
          </a:p>
        </p:txBody>
      </p:sp>
      <p:sp>
        <p:nvSpPr>
          <p:cNvPr id="15" name="Rectangle 14"/>
          <p:cNvSpPr/>
          <p:nvPr/>
        </p:nvSpPr>
        <p:spPr>
          <a:xfrm>
            <a:off x="457200" y="4114800"/>
            <a:ext cx="2697480" cy="21488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160520"/>
            <a:ext cx="2560320" cy="2057400"/>
          </a:xfrm>
          <a:prstGeom prst="rect">
            <a:avLst/>
          </a:prstGeom>
          <a:noFill/>
        </p:spPr>
        <p:txBody>
          <a:bodyPr wrap="square" anchor="t" lIns="45720" rIns="45720">
            <a:spAutoFit/>
          </a:bodyPr>
          <a:lstStyle/>
          <a:p>
            <a:pPr algn="l">
              <a:spcAft>
                <a:spcPts val="400"/>
              </a:spcAft>
            </a:pPr>
            <a:r>
              <a:rPr sz="1400" b="1">
                <a:solidFill>
                  <a:srgbClr val="2A6F97"/>
                </a:solidFill>
                <a:latin typeface="Calibri"/>
              </a:rPr>
              <a:t>What we know</a:t>
            </a:r>
          </a:p>
          <a:p>
            <a:pPr algn="l">
              <a:spcAft>
                <a:spcPts val="400"/>
              </a:spcAft>
            </a:pPr>
            <a:r>
              <a:rPr sz="1400" b="0">
                <a:solidFill>
                  <a:srgbClr val="1F2933"/>
                </a:solidFill>
                <a:latin typeface="Calibri"/>
              </a:rPr>
              <a:t>Pickup-location confusion, waiting and communication difficulties are reported in the research (small, self-selected samples).</a:t>
            </a:r>
          </a:p>
        </p:txBody>
      </p:sp>
      <p:sp>
        <p:nvSpPr>
          <p:cNvPr id="17" name="Rectangle 16"/>
          <p:cNvSpPr/>
          <p:nvPr/>
        </p:nvSpPr>
        <p:spPr>
          <a:xfrm>
            <a:off x="3291840" y="4114800"/>
            <a:ext cx="2697480" cy="21488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64992" y="4160520"/>
            <a:ext cx="2560320" cy="2057400"/>
          </a:xfrm>
          <a:prstGeom prst="rect">
            <a:avLst/>
          </a:prstGeom>
          <a:noFill/>
        </p:spPr>
        <p:txBody>
          <a:bodyPr wrap="square" anchor="t" lIns="45720" rIns="45720">
            <a:spAutoFit/>
          </a:bodyPr>
          <a:lstStyle/>
          <a:p>
            <a:pPr algn="l">
              <a:spcAft>
                <a:spcPts val="400"/>
              </a:spcAft>
            </a:pPr>
            <a:r>
              <a:rPr sz="1400" b="1">
                <a:solidFill>
                  <a:srgbClr val="2A6F97"/>
                </a:solidFill>
                <a:latin typeface="Calibri"/>
              </a:rPr>
              <a:t>What we hypothesize</a:t>
            </a:r>
          </a:p>
          <a:p>
            <a:pPr algn="l">
              <a:spcAft>
                <a:spcPts val="400"/>
              </a:spcAft>
            </a:pPr>
            <a:r>
              <a:rPr sz="1400" b="0">
                <a:solidFill>
                  <a:srgbClr val="1F2933"/>
                </a:solidFill>
                <a:latin typeface="Calibri"/>
              </a:rPr>
              <a:t>Better shared meeting-point information may reduce coordination effort.</a:t>
            </a:r>
          </a:p>
        </p:txBody>
      </p:sp>
      <p:sp>
        <p:nvSpPr>
          <p:cNvPr id="19" name="Rectangle 18"/>
          <p:cNvSpPr/>
          <p:nvPr/>
        </p:nvSpPr>
        <p:spPr>
          <a:xfrm>
            <a:off x="6126480" y="4114800"/>
            <a:ext cx="2697480" cy="21488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9632" y="4160520"/>
            <a:ext cx="2560320" cy="2057400"/>
          </a:xfrm>
          <a:prstGeom prst="rect">
            <a:avLst/>
          </a:prstGeom>
          <a:noFill/>
        </p:spPr>
        <p:txBody>
          <a:bodyPr wrap="square" anchor="t" lIns="45720" rIns="45720">
            <a:spAutoFit/>
          </a:bodyPr>
          <a:lstStyle/>
          <a:p>
            <a:pPr algn="l">
              <a:spcAft>
                <a:spcPts val="400"/>
              </a:spcAft>
            </a:pPr>
            <a:r>
              <a:rPr sz="1400" b="1">
                <a:solidFill>
                  <a:srgbClr val="2A6F97"/>
                </a:solidFill>
                <a:latin typeface="Calibri"/>
              </a:rPr>
              <a:t>What we will test</a:t>
            </a:r>
          </a:p>
          <a:p>
            <a:pPr algn="l">
              <a:spcAft>
                <a:spcPts val="400"/>
              </a:spcAft>
            </a:pPr>
            <a:r>
              <a:rPr sz="1400" b="0">
                <a:solidFill>
                  <a:srgbClr val="1F2933"/>
                </a:solidFill>
                <a:latin typeface="Calibri"/>
              </a:rPr>
              <a:t>Structured meeting-point guidance versus the existing pickup experience.</a:t>
            </a:r>
          </a:p>
        </p:txBody>
      </p:sp>
      <p:sp>
        <p:nvSpPr>
          <p:cNvPr id="21" name="Rectangle 20"/>
          <p:cNvSpPr/>
          <p:nvPr/>
        </p:nvSpPr>
        <p:spPr>
          <a:xfrm>
            <a:off x="8961120" y="4114800"/>
            <a:ext cx="2697480" cy="21488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34272" y="4160520"/>
            <a:ext cx="2560320" cy="2057400"/>
          </a:xfrm>
          <a:prstGeom prst="rect">
            <a:avLst/>
          </a:prstGeom>
          <a:noFill/>
        </p:spPr>
        <p:txBody>
          <a:bodyPr wrap="square" anchor="t" lIns="45720" rIns="45720">
            <a:spAutoFit/>
          </a:bodyPr>
          <a:lstStyle/>
          <a:p>
            <a:pPr algn="l">
              <a:spcAft>
                <a:spcPts val="400"/>
              </a:spcAft>
            </a:pPr>
            <a:r>
              <a:rPr sz="1400" b="1">
                <a:solidFill>
                  <a:srgbClr val="2A6F97"/>
                </a:solidFill>
                <a:latin typeface="Calibri"/>
              </a:rPr>
              <a:t>What determines investment</a:t>
            </a:r>
          </a:p>
          <a:p>
            <a:pPr algn="l">
              <a:spcAft>
                <a:spcPts val="400"/>
              </a:spcAft>
            </a:pPr>
            <a:r>
              <a:rPr sz="1400" b="0">
                <a:solidFill>
                  <a:srgbClr val="1F2933"/>
                </a:solidFill>
                <a:latin typeface="Calibri"/>
              </a:rPr>
              <a:t>Observed gains in pickup task success and coordination time, without adverse safety or accessibility effects.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6F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868680"/>
          </a:xfrm>
          <a:prstGeom prst="rect">
            <a:avLst/>
          </a:prstGeom>
          <a:noFill/>
        </p:spPr>
        <p:txBody>
          <a:bodyPr wrap="square" anchor="ctr" lIns="45720" rIns="45720">
            <a:spAutoFit/>
          </a:bodyPr>
          <a:lstStyle/>
          <a:p>
            <a:pPr algn="l">
              <a:spcAft>
                <a:spcPts val="600"/>
              </a:spcAft>
            </a:pPr>
            <a:r>
              <a:rPr sz="2600" b="1">
                <a:solidFill>
                  <a:srgbClr val="1F2933"/>
                </a:solidFill>
                <a:latin typeface="Calibri"/>
              </a:rPr>
              <a:t>References and evidence trail</a:t>
            </a:r>
          </a:p>
        </p:txBody>
      </p:sp>
      <p:sp>
        <p:nvSpPr>
          <p:cNvPr id="4" name="TextBox 3"/>
          <p:cNvSpPr txBox="1"/>
          <p:nvPr/>
        </p:nvSpPr>
        <p:spPr>
          <a:xfrm>
            <a:off x="457200" y="6400800"/>
            <a:ext cx="11247120" cy="365760"/>
          </a:xfrm>
          <a:prstGeom prst="rect">
            <a:avLst/>
          </a:prstGeom>
          <a:noFill/>
        </p:spPr>
        <p:txBody>
          <a:bodyPr wrap="square" anchor="t" lIns="45720" rIns="45720">
            <a:spAutoFit/>
          </a:bodyPr>
          <a:lstStyle/>
          <a:p>
            <a:pPr algn="l">
              <a:spcAft>
                <a:spcPts val="600"/>
              </a:spcAft>
            </a:pPr>
            <a:r>
              <a:rPr sz="1000" b="0">
                <a:solidFill>
                  <a:srgbClr val="6B7785"/>
                </a:solidFill>
                <a:latin typeface="Calibri"/>
              </a:rPr>
              <a:t>Source: All paths relative to the project root (TMS/). Verification status shown per source</a:t>
            </a:r>
          </a:p>
        </p:txBody>
      </p:sp>
      <p:sp>
        <p:nvSpPr>
          <p:cNvPr id="5" name="TextBox 4"/>
          <p:cNvSpPr txBox="1"/>
          <p:nvPr/>
        </p:nvSpPr>
        <p:spPr>
          <a:xfrm>
            <a:off x="457200" y="1188720"/>
            <a:ext cx="11247120" cy="5120640"/>
          </a:xfrm>
          <a:prstGeom prst="rect">
            <a:avLst/>
          </a:prstGeom>
          <a:noFill/>
        </p:spPr>
        <p:txBody>
          <a:bodyPr wrap="square" anchor="t" lIns="45720" rIns="45720">
            <a:spAutoFit/>
          </a:bodyPr>
          <a:lstStyle/>
          <a:p>
            <a:pPr algn="l">
              <a:spcAft>
                <a:spcPts val="500"/>
              </a:spcAft>
            </a:pPr>
            <a:r>
              <a:rPr sz="1300" b="1">
                <a:solidFill>
                  <a:srgbClr val="2A6F97"/>
                </a:solidFill>
                <a:latin typeface="Calibri"/>
              </a:rPr>
              <a:t>Independently verified (files and live fetch)</a:t>
            </a:r>
          </a:p>
          <a:p>
            <a:pPr algn="l">
              <a:spcAft>
                <a:spcPts val="500"/>
              </a:spcAft>
            </a:pPr>
            <a:r>
              <a:rPr sz="1300" b="0">
                <a:solidFill>
                  <a:srgbClr val="1F2933"/>
                </a:solidFill>
                <a:latin typeface="Calibri"/>
              </a:rPr>
              <a:t>•  Primary: survey export (data/raw, git-ignored); data/clean/Cleaned_Primary_Research.csv, Cleaning_Log.csv; notebooks/Uber_Primary_EDA.ipynb</a:t>
            </a:r>
          </a:p>
          <a:p>
            <a:pPr algn="l">
              <a:spcAft>
                <a:spcPts val="500"/>
              </a:spcAft>
            </a:pPr>
            <a:r>
              <a:rPr sz="1300" b="0">
                <a:solidFill>
                  <a:srgbClr val="1F2933"/>
                </a:solidFill>
                <a:latin typeface="Calibri"/>
              </a:rPr>
              <a:t>•  Secondary: data/clean/Secondary_Reviews_Verified.csv (n=33; review IDs, dates 12 Sep 2026 to 14 Oct 2026; Apple India customer-reviews RSS feed itunes.apple.com/in/rss/customerreviews/id=368677368; listing apps.apple.com/in/app/uber-rides-eats-and-more/id368677368). No per-review URL exists. 24 screened IDs unmatched and unused</a:t>
            </a:r>
          </a:p>
          <a:p>
            <a:pPr algn="l">
              <a:spcAft>
                <a:spcPts val="500"/>
              </a:spcAft>
            </a:pPr>
            <a:r>
              <a:rPr sz="1300" b="0">
                <a:solidFill>
                  <a:srgbClr val="1F2933"/>
                </a:solidFill>
                <a:latin typeface="Calibri"/>
              </a:rPr>
              <a:t>•  Analysis: notebooks/Uber_Secondary_Reviews.ipynb; outputs/Triangulation_Matrix.csv; outputs/Uber_FindMyRide_Problem_Prioritization.csv (scores = analytical judgements); outputs/Uber_FindMyRide_Frameworks_Appendix.md; Experiment_Plan.md</a:t>
            </a:r>
          </a:p>
          <a:p>
            <a:pPr algn="l">
              <a:spcAft>
                <a:spcPts val="500"/>
              </a:spcAft>
            </a:pPr>
            <a:r>
              <a:rPr sz="1300" b="1">
                <a:solidFill>
                  <a:srgbClr val="B45309"/>
                </a:solidFill>
                <a:latin typeface="Calibri"/>
              </a:rPr>
              <a:t>Not independently verified (web-search summaries; originals not opened)</a:t>
            </a:r>
          </a:p>
          <a:p>
            <a:pPr algn="l">
              <a:spcAft>
                <a:spcPts val="500"/>
              </a:spcAft>
            </a:pPr>
            <a:r>
              <a:rPr sz="1300" b="0">
                <a:solidFill>
                  <a:srgbClr val="1F2933"/>
                </a:solidFill>
                <a:latin typeface="Calibri"/>
              </a:rPr>
              <a:t>•  Market model: outputs/Uber_TAM_SAM_SOM.xlsx. Uber India newsroom 11.6 bn km in 2025 (S1); Entrackr Rapido 207M rides Q2 FY25, company claim (S3); Outlook Business market shares, undated (S4). Registry also lists older, un-used context (CCPA 2022, LocalCircles 2018)</a:t>
            </a:r>
          </a:p>
          <a:p>
            <a:pPr algn="l">
              <a:spcAft>
                <a:spcPts val="500"/>
              </a:spcAft>
            </a:pPr>
            <a:r>
              <a:rPr sz="1300" b="1">
                <a:solidFill>
                  <a:srgbClr val="2A6F97"/>
                </a:solidFill>
                <a:latin typeface="Calibri"/>
              </a:rPr>
              <a:t>Frameworks (published works; definitions in the appendix)</a:t>
            </a:r>
          </a:p>
          <a:p>
            <a:pPr algn="l">
              <a:spcAft>
                <a:spcPts val="500"/>
              </a:spcAft>
            </a:pPr>
            <a:r>
              <a:rPr sz="1300" b="0">
                <a:solidFill>
                  <a:srgbClr val="1F2933"/>
                </a:solidFill>
                <a:latin typeface="Calibri"/>
              </a:rPr>
              <a:t>•  Christensen, Hall, Dillon &amp; Duncan, Competing Against Luck (2016); Ulwick, Jobs to Be Done: Theory to Practice (2016); Ries, The Lean Startup (2011); Gibbons, Journey Mapping 101, Nielsen Norman Group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